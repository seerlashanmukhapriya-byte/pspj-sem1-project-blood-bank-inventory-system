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Override PartName="/ppt/theme/theme2.xml" ContentType="application/vnd.openxmlformats-officedocument.theme+xml"/>
  <Override PartName="/ppt/presentation.xml" ContentType="application/vnd.openxmlformats-officedocument.presentationml.presentation.main+xml"/>
  <Override PartName="/ppt/tableStyles.xml" ContentType="application/vnd.openxmlformats-officedocument.presentationml.tableStyles+xml"/>
  <Override PartName="/ppt/presProps.xml" ContentType="application/vnd.openxmlformats-officedocument.presentationml.presProps+xml"/>
  <Override PartName="/ppt/notesSlides/notesSlide15.xml" ContentType="application/vnd.openxmlformats-officedocument.presentationml.notesSlide+xml"/>
  <Override PartName="/ppt/slides/slide15.xml" ContentType="application/vnd.openxmlformats-officedocument.presentationml.slide+xml"/>
  <Override PartName="/docProps/app.xml" ContentType="application/vnd.openxmlformats-officedocument.extended-properties+xml"/>
  <Override PartName="/ppt/viewProps.xml" ContentType="application/vnd.openxmlformats-officedocument.presentationml.viewProps+xml"/>
  <Override PartName="/docProps/core.xml" ContentType="application/vnd.openxmlformats-package.core-properties+xml"/>
  <Override PartName="/ppt/theme/theme1.xml" ContentType="application/vnd.openxmlformats-officedocument.them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slides/slide11.xml" ContentType="application/vnd.openxmlformats-officedocument.presentationml.slide+xml"/>
  <Override PartName="/ppt/slides/slide8.xml" ContentType="application/vnd.openxmlformats-officedocument.presentationml.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slides/slide10.xml" ContentType="application/vnd.openxmlformats-officedocument.presentationml.slide+xml"/>
  <Override PartName="/ppt/slides/slide9.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19"/>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11"/>
    <p:restoredTop sz="94610"/>
  </p:normalViewPr>
  <p:slideViewPr>
    <p:cSldViewPr snapToGrid="0" snapToObjects="1">
      <p:cViewPr varScale="1">
        <p:scale>
          <a:sx n="136" d="100"/>
          <a:sy n="136" d="100"/>
        </p:scale>
        <p:origin x="216" y="312"/>
      </p:cViewPr>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notesMaster" Target="notesMasters/notesMaster1.xml"/><Relationship Id="rId20" Type="http://schemas.openxmlformats.org/officeDocument/2006/relationships/presProps" Target="presProps.xml" /><Relationship Id="rId21" Type="http://schemas.openxmlformats.org/officeDocument/2006/relationships/tableStyles" Target="tableStyles.xml" /><Relationship Id="rId22" Type="http://schemas.openxmlformats.org/officeDocument/2006/relationships/viewProps" Target="viewProps.xml" /></Relationships>
</file>

<file path=ppt/handoutMasters/_rels/handoutMaster1.xml.rels><?xml version="1.0" encoding="UTF-8" standalone="yes"?>								<Relationships xmlns="http://schemas.openxmlformats.org/package/2006/relationships">								<Relationship Id="rId1" Type="http://schemas.openxmlformats.org/officeDocument/2006/relationships/theme" Target="../theme/theme0.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A6D3F2D6-1E8B-A040-9ABA-40539B200534}" type="datetimeFigureOut">
              <a:rPr lang="en-US" smtClean="0"/>
              <a:t>10/16/2026</a:t>
            </a:fld>
            <a:endParaRPr lang="en-US"/>
          </a:p>
        </p:txBody>
      </p:sp>
      <p:sp>
        <p:nvSpPr>
          <p:cNvPr id="4" name="Slide Image Placeholder 3"/>
          <p:cNvSpPr>
            <a:spLocks noChangeAspect="1" noGrp="1" noRo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5A711C3D-21CB-8C4C-A855-C87F72A45429}" type="slidenum">
              <a:rPr lang="en-US" smtClean="0"/>
              <a:t>‹#›</a:t>
            </a:fld>
            <a:endParaRPr lang="en-US"/>
          </a:p>
        </p:txBody>
      </p:sp>
    </p:spTree>
    <p:extLst>
      <p:ext uri="{BB962C8B-B14F-4D97-AF65-F5344CB8AC3E}">
        <p14:creationId xmlns:p14="http://schemas.microsoft.com/office/powerpoint/2010/main" val="36560773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p:spTree>
      <p:nvGrpSpPr>
        <p:cNvPr id="1" name=""/>
        <p:cNvGrpSpPr/>
        <p:nvPr/>
      </p:nvGrpSpPr>
      <p:grpSpPr>
        <a:xfrm>
          <a:off x="0" y="0"/>
          <a:ext cx="0" cy="0"/>
          <a:chOff x="0" y="0"/>
          <a:chExt cx="0" cy="0"/>
        </a:xfrm>
      </p:grpSpPr>
      <p:sp>
        <p:nvSpPr>
          <p:cNvPr id="2" name="Slide Image Placeholder 1"/>
          <p:cNvSpPr>
            <a:spLocks noChangeAspect="1" noGrp="1" noRo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p:spTree>
      <p:nvGrpSpPr>
        <p:cNvPr id="1" name=""/>
        <p:cNvGrpSpPr/>
        <p:nvPr/>
      </p:nvGrpSpPr>
      <p:grpSpPr>
        <a:xfrm>
          <a:off x="0" y="0"/>
          <a:ext cx="0" cy="0"/>
          <a:chOff x="0" y="0"/>
          <a:chExt cx="0" cy="0"/>
        </a:xfrm>
      </p:grpSpPr>
      <p:sp>
        <p:nvSpPr>
          <p:cNvPr id="2" name="Slide Image Placeholder 1"/>
          <p:cNvSpPr>
            <a:spLocks noChangeAspect="1" noGrp="1" noRo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p:spTree>
      <p:nvGrpSpPr>
        <p:cNvPr id="1" name=""/>
        <p:cNvGrpSpPr/>
        <p:nvPr/>
      </p:nvGrpSpPr>
      <p:grpSpPr>
        <a:xfrm>
          <a:off x="0" y="0"/>
          <a:ext cx="0" cy="0"/>
          <a:chOff x="0" y="0"/>
          <a:chExt cx="0" cy="0"/>
        </a:xfrm>
      </p:grpSpPr>
      <p:sp>
        <p:nvSpPr>
          <p:cNvPr id="2" name="Slide Image Placeholder 1"/>
          <p:cNvSpPr>
            <a:spLocks noChangeAspect="1" noGrp="1" noRo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p:spTree>
      <p:nvGrpSpPr>
        <p:cNvPr id="1" name=""/>
        <p:cNvGrpSpPr/>
        <p:nvPr/>
      </p:nvGrpSpPr>
      <p:grpSpPr>
        <a:xfrm>
          <a:off x="0" y="0"/>
          <a:ext cx="0" cy="0"/>
          <a:chOff x="0" y="0"/>
          <a:chExt cx="0" cy="0"/>
        </a:xfrm>
      </p:grpSpPr>
      <p:sp>
        <p:nvSpPr>
          <p:cNvPr id="2" name="Slide Image Placeholder 1"/>
          <p:cNvSpPr>
            <a:spLocks noChangeAspect="1" noGrp="1" noRo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p:spTree>
      <p:nvGrpSpPr>
        <p:cNvPr id="1" name=""/>
        <p:cNvGrpSpPr/>
        <p:nvPr/>
      </p:nvGrpSpPr>
      <p:grpSpPr>
        <a:xfrm>
          <a:off x="0" y="0"/>
          <a:ext cx="0" cy="0"/>
          <a:chOff x="0" y="0"/>
          <a:chExt cx="0" cy="0"/>
        </a:xfrm>
      </p:grpSpPr>
      <p:sp>
        <p:nvSpPr>
          <p:cNvPr id="2" name="Slide Image Placeholder 1"/>
          <p:cNvSpPr>
            <a:spLocks noChangeAspect="1" noGrp="1" noRo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p:spTree>
      <p:nvGrpSpPr>
        <p:cNvPr id="1" name=""/>
        <p:cNvGrpSpPr/>
        <p:nvPr/>
      </p:nvGrpSpPr>
      <p:grpSpPr>
        <a:xfrm>
          <a:off x="0" y="0"/>
          <a:ext cx="0" cy="0"/>
          <a:chOff x="0" y="0"/>
          <a:chExt cx="0" cy="0"/>
        </a:xfrm>
      </p:grpSpPr>
      <p:sp>
        <p:nvSpPr>
          <p:cNvPr id="2" name="Slide Image Placeholder 1"/>
          <p:cNvSpPr>
            <a:spLocks noChangeAspect="1" noGrp="1" noRo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p:spTree>
      <p:nvGrpSpPr>
        <p:cNvPr id="1" name=""/>
        <p:cNvGrpSpPr/>
        <p:nvPr/>
      </p:nvGrpSpPr>
      <p:grpSpPr>
        <a:xfrm>
          <a:off x="0" y="0"/>
          <a:ext cx="0" cy="0"/>
          <a:chOff x="0" y="0"/>
          <a:chExt cx="0" cy="0"/>
        </a:xfrm>
      </p:grpSpPr>
      <p:sp>
        <p:nvSpPr>
          <p:cNvPr id="2" name="Slide Image Placeholder 1"/>
          <p:cNvSpPr>
            <a:spLocks noChangeAspect="1" noGrp="1" noRo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p:spTree>
      <p:nvGrpSpPr>
        <p:cNvPr id="1" name=""/>
        <p:cNvGrpSpPr/>
        <p:nvPr/>
      </p:nvGrpSpPr>
      <p:grpSpPr>
        <a:xfrm>
          <a:off x="0" y="0"/>
          <a:ext cx="0" cy="0"/>
          <a:chOff x="0" y="0"/>
          <a:chExt cx="0" cy="0"/>
        </a:xfrm>
      </p:grpSpPr>
      <p:sp>
        <p:nvSpPr>
          <p:cNvPr id="2" name="Slide Image Placeholder 1"/>
          <p:cNvSpPr>
            <a:spLocks noChangeAspect="1" noGrp="1" noRo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p:spTree>
      <p:nvGrpSpPr>
        <p:cNvPr id="1" name=""/>
        <p:cNvGrpSpPr/>
        <p:nvPr/>
      </p:nvGrpSpPr>
      <p:grpSpPr>
        <a:xfrm>
          <a:off x="0" y="0"/>
          <a:ext cx="0" cy="0"/>
          <a:chOff x="0" y="0"/>
          <a:chExt cx="0" cy="0"/>
        </a:xfrm>
      </p:grpSpPr>
      <p:sp>
        <p:nvSpPr>
          <p:cNvPr id="2" name="Slide Image Placeholder 1"/>
          <p:cNvSpPr>
            <a:spLocks noChangeAspect="1" noGrp="1" noRo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p:spTree>
      <p:nvGrpSpPr>
        <p:cNvPr id="1" name=""/>
        <p:cNvGrpSpPr/>
        <p:nvPr/>
      </p:nvGrpSpPr>
      <p:grpSpPr>
        <a:xfrm>
          <a:off x="0" y="0"/>
          <a:ext cx="0" cy="0"/>
          <a:chOff x="0" y="0"/>
          <a:chExt cx="0" cy="0"/>
        </a:xfrm>
      </p:grpSpPr>
      <p:sp>
        <p:nvSpPr>
          <p:cNvPr id="2" name="Slide Image Placeholder 1"/>
          <p:cNvSpPr>
            <a:spLocks noChangeAspect="1" noGrp="1" noRo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p:spTree>
      <p:nvGrpSpPr>
        <p:cNvPr id="1" name=""/>
        <p:cNvGrpSpPr/>
        <p:nvPr/>
      </p:nvGrpSpPr>
      <p:grpSpPr>
        <a:xfrm>
          <a:off x="0" y="0"/>
          <a:ext cx="0" cy="0"/>
          <a:chOff x="0" y="0"/>
          <a:chExt cx="0" cy="0"/>
        </a:xfrm>
      </p:grpSpPr>
      <p:sp>
        <p:nvSpPr>
          <p:cNvPr id="2" name="Slide Image Placeholder 1"/>
          <p:cNvSpPr>
            <a:spLocks noChangeAspect="1" noGrp="1" noRo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p:spTree>
      <p:nvGrpSpPr>
        <p:cNvPr id="1" name=""/>
        <p:cNvGrpSpPr/>
        <p:nvPr/>
      </p:nvGrpSpPr>
      <p:grpSpPr>
        <a:xfrm>
          <a:off x="0" y="0"/>
          <a:ext cx="0" cy="0"/>
          <a:chOff x="0" y="0"/>
          <a:chExt cx="0" cy="0"/>
        </a:xfrm>
      </p:grpSpPr>
      <p:sp>
        <p:nvSpPr>
          <p:cNvPr id="2" name="Slide Image Placeholder 1"/>
          <p:cNvSpPr>
            <a:spLocks noChangeAspect="1" noGrp="1" noRo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p:spTree>
      <p:nvGrpSpPr>
        <p:cNvPr id="1" name=""/>
        <p:cNvGrpSpPr/>
        <p:nvPr/>
      </p:nvGrpSpPr>
      <p:grpSpPr>
        <a:xfrm>
          <a:off x="0" y="0"/>
          <a:ext cx="0" cy="0"/>
          <a:chOff x="0" y="0"/>
          <a:chExt cx="0" cy="0"/>
        </a:xfrm>
      </p:grpSpPr>
      <p:sp>
        <p:nvSpPr>
          <p:cNvPr id="2" name="Slide Image Placeholder 1"/>
          <p:cNvSpPr>
            <a:spLocks noChangeAspect="1" noGrp="1" noRo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p:spTree>
      <p:nvGrpSpPr>
        <p:cNvPr id="1" name=""/>
        <p:cNvGrpSpPr/>
        <p:nvPr/>
      </p:nvGrpSpPr>
      <p:grpSpPr>
        <a:xfrm>
          <a:off x="0" y="0"/>
          <a:ext cx="0" cy="0"/>
          <a:chOff x="0" y="0"/>
          <a:chExt cx="0" cy="0"/>
        </a:xfrm>
      </p:grpSpPr>
      <p:sp>
        <p:nvSpPr>
          <p:cNvPr id="2" name="Slide Image Placeholder 1"/>
          <p:cNvSpPr>
            <a:spLocks noChangeAspect="1" noGrp="1" noRo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p:spTree>
      <p:nvGrpSpPr>
        <p:cNvPr id="1" name=""/>
        <p:cNvGrpSpPr/>
        <p:nvPr/>
      </p:nvGrpSpPr>
      <p:grpSpPr>
        <a:xfrm>
          <a:off x="0" y="0"/>
          <a:ext cx="0" cy="0"/>
          <a:chOff x="0" y="0"/>
          <a:chExt cx="0" cy="0"/>
        </a:xfrm>
      </p:grpSpPr>
      <p:sp>
        <p:nvSpPr>
          <p:cNvPr id="2" name="Slide Image Placeholder 1"/>
          <p:cNvSpPr>
            <a:spLocks noChangeAspect="1" noGrp="1" noRo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dt="0" ftr="0" hdr="0" sldNum="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4.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4.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2.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4.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8.png"/><Relationship Id="rId4" Type="http://schemas.openxmlformats.org/officeDocument/2006/relationships/image" Target="../media/image16.png"/><Relationship Id="rId5" Type="http://schemas.openxmlformats.org/officeDocument/2006/relationships/image" Target="../media/image14.png"/><Relationship Id="rId6" Type="http://schemas.openxmlformats.org/officeDocument/2006/relationships/image" Target="../media/image19.png"/><Relationship Id="rId7" Type="http://schemas.openxmlformats.org/officeDocument/2006/relationships/image" Target="../media/image13.png"/><Relationship Id="rId8" Type="http://schemas.openxmlformats.org/officeDocument/2006/relationships/image" Target="../media/image4.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image" Target="../media/image8.png"/><Relationship Id="rId5" Type="http://schemas.openxmlformats.org/officeDocument/2006/relationships/image" Target="../media/image19.png"/><Relationship Id="rId6" Type="http://schemas.openxmlformats.org/officeDocument/2006/relationships/image" Target="../media/image2.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20.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19.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name="Slide 1">
    <p:bg>
      <p:bgPr>
        <a:solidFill>
          <a:srgbClr val="260710"/>
        </a:solidFill>
        <a:effectLst/>
      </p:bgPr>
    </p:bg>
    <p:spTree>
      <p:nvGrpSpPr>
        <p:cNvPr id="1" name=""/>
        <p:cNvGrpSpPr/>
        <p:nvPr/>
      </p:nvGrpSpPr>
      <p:grpSpPr>
        <a:xfrm>
          <a:off x="0" y="0"/>
          <a:ext cx="0" cy="0"/>
          <a:chOff x="0" y="0"/>
          <a:chExt cx="0" cy="0"/>
        </a:xfrm>
      </p:grpSpPr>
      <p:sp>
        <p:nvSpPr>
          <p:cNvPr id="2" name="Shape 0"/>
          <p:cNvSpPr/>
          <p:nvPr/>
        </p:nvSpPr>
        <p:spPr>
          <a:xfrm>
            <a:off x="7498080" y="1097280"/>
            <a:ext cx="4389120" cy="4389120"/>
          </a:xfrm>
          <a:prstGeom prst="ellipse">
            <a:avLst/>
          </a:prstGeom>
          <a:solidFill>
            <a:srgbClr val="9B1B30"/>
          </a:solidFill>
          <a:ln w="12700">
            <a:solidFill>
              <a:srgbClr val="9B1B30"/>
            </a:solidFill>
            <a:prstDash val="solid"/>
          </a:ln>
        </p:spPr>
      </p:sp>
      <p:sp>
        <p:nvSpPr>
          <p:cNvPr id="3" name="Shape 1"/>
          <p:cNvSpPr/>
          <p:nvPr/>
        </p:nvSpPr>
        <p:spPr>
          <a:xfrm>
            <a:off x="7178040" y="777240"/>
            <a:ext cx="5029200" cy="5029200"/>
          </a:xfrm>
          <a:prstGeom prst="ellipse">
            <a:avLst/>
          </a:prstGeom>
          <a:solidFill>
            <a:srgbClr val="9B1B30">
              <a:alpha val="0"/>
            </a:srgbClr>
          </a:solidFill>
          <a:ln w="25400">
            <a:solidFill>
              <a:srgbClr val="D6455D"/>
            </a:solidFill>
            <a:prstDash val="solid"/>
          </a:ln>
        </p:spPr>
      </p:sp>
      <p:pic>
        <p:nvPicPr>
          <p:cNvPr id="4" name="Image 0" descr="preencoded.png"/>
          <p:cNvPicPr>
            <a:picLocks noChangeAspect="1"/>
          </p:cNvPicPr>
          <p:nvPr/>
        </p:nvPicPr>
        <p:blipFill>
          <a:blip r:embed="rId3"/>
          <a:stretch>
            <a:fillRect/>
          </a:stretch>
        </p:blipFill>
        <p:spPr>
          <a:xfrm>
            <a:off x="8595360" y="2194560"/>
            <a:ext cx="2194560" cy="2194560"/>
          </a:xfrm>
          <a:prstGeom prst="rect">
            <a:avLst/>
          </a:prstGeom>
        </p:spPr>
      </p:pic>
      <p:sp>
        <p:nvSpPr>
          <p:cNvPr id="5" name="Text 2"/>
          <p:cNvSpPr txBox="1"/>
          <p:nvPr/>
        </p:nvSpPr>
        <p:spPr>
          <a:xfrm>
            <a:off x="640080" y="1005840"/>
            <a:ext cx="5486400" cy="365760"/>
          </a:xfrm>
          <a:prstGeom prst="rect">
            <a:avLst/>
          </a:prstGeom>
          <a:noFill/>
          <a:ln/>
        </p:spPr>
        <p:txBody>
          <a:bodyPr wrap="square" lIns="0" tIns="0" rIns="0" bIns="0" rtlCol="0" anchor="ctr"/>
          <a:lstStyle/>
          <a:p>
            <a:pPr marL="0" indent="0">
              <a:buNone/>
            </a:pPr>
            <a:r>
              <a:rPr lang="en-US" sz="1600" b="1" kern="0" spc="600" dirty="0">
                <a:solidFill>
                  <a:srgbClr val="F2A7B4"/>
                </a:solidFill>
                <a:latin typeface="Calibri" pitchFamily="34" charset="0"/>
                <a:ea typeface="Calibri" pitchFamily="34" charset="-122"/>
                <a:cs typeface="Calibri" pitchFamily="34" charset="-120"/>
              </a:rPr>
              <a:t>JAVA PRESENTATION</a:t>
            </a:r>
            <a:endParaRPr lang="en-US" sz="1600" dirty="0"/>
          </a:p>
        </p:txBody>
      </p:sp>
      <p:sp>
        <p:nvSpPr>
          <p:cNvPr id="6" name="Text 3"/>
          <p:cNvSpPr txBox="1"/>
          <p:nvPr/>
        </p:nvSpPr>
        <p:spPr>
          <a:xfrm>
            <a:off x="640080" y="1463040"/>
            <a:ext cx="6583680" cy="2011680"/>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BLOOD BANK</a:t>
            </a:r>
            <a:endParaRPr lang="en-US" sz="4600" dirty="0"/>
          </a:p>
          <a:p>
            <a:pPr marL="0" indent="0">
              <a:buNone/>
            </a:pPr>
            <a:r>
              <a:rPr lang="en-US" sz="4600" b="1" dirty="0">
                <a:solidFill>
                  <a:srgbClr val="FFFFFF"/>
                </a:solidFill>
                <a:latin typeface="Cambria" pitchFamily="34" charset="0"/>
                <a:ea typeface="Cambria" pitchFamily="34" charset="-122"/>
                <a:cs typeface="Cambria" pitchFamily="34" charset="-120"/>
              </a:rPr>
              <a:t>INVENTORY SYSTEM</a:t>
            </a:r>
            <a:endParaRPr lang="en-US" sz="4600" dirty="0"/>
          </a:p>
        </p:txBody>
      </p:sp>
      <p:sp>
        <p:nvSpPr>
          <p:cNvPr id="7" name="Text 4"/>
          <p:cNvSpPr txBox="1"/>
          <p:nvPr/>
        </p:nvSpPr>
        <p:spPr>
          <a:xfrm>
            <a:off x="640080" y="3749040"/>
            <a:ext cx="3657600" cy="320040"/>
          </a:xfrm>
          <a:prstGeom prst="rect">
            <a:avLst/>
          </a:prstGeom>
          <a:noFill/>
          <a:ln/>
        </p:spPr>
        <p:txBody>
          <a:bodyPr wrap="square" lIns="0" tIns="0" rIns="0" bIns="0" rtlCol="0" anchor="ctr"/>
          <a:lstStyle/>
          <a:p>
            <a:pPr marL="0" indent="0">
              <a:buNone/>
            </a:pPr>
            <a:r>
              <a:rPr lang="en-US" sz="1400" b="1" kern="0" spc="400" dirty="0">
                <a:solidFill>
                  <a:srgbClr val="F2A7B4"/>
                </a:solidFill>
                <a:latin typeface="Calibri" pitchFamily="34" charset="0"/>
                <a:ea typeface="Calibri" pitchFamily="34" charset="-122"/>
                <a:cs typeface="Calibri" pitchFamily="34" charset="-120"/>
              </a:rPr>
              <a:t>TEAM MEMBERS</a:t>
            </a:r>
            <a:endParaRPr lang="en-US" sz="1400" dirty="0"/>
          </a:p>
        </p:txBody>
      </p:sp>
      <p:sp>
        <p:nvSpPr>
          <p:cNvPr id="8" name="Shape 5"/>
          <p:cNvSpPr/>
          <p:nvPr/>
        </p:nvSpPr>
        <p:spPr>
          <a:xfrm>
            <a:off x="640080" y="4160520"/>
            <a:ext cx="6035040" cy="658368"/>
          </a:xfrm>
          <a:prstGeom prst="roundRect">
            <a:avLst>
              <a:gd name="adj" fmla="val 16667"/>
            </a:avLst>
          </a:prstGeom>
          <a:solidFill>
            <a:srgbClr val="FFFFFF">
              <a:alpha val="10000"/>
            </a:srgbClr>
          </a:solidFill>
          <a:ln w="12700">
            <a:solidFill>
              <a:srgbClr val="FFFFFF">
                <a:alpha val="25000"/>
              </a:srgbClr>
            </a:solidFill>
            <a:prstDash val="solid"/>
          </a:ln>
        </p:spPr>
      </p:sp>
      <p:sp>
        <p:nvSpPr>
          <p:cNvPr id="9" name="Text 6"/>
          <p:cNvSpPr txBox="1"/>
          <p:nvPr/>
        </p:nvSpPr>
        <p:spPr>
          <a:xfrm>
            <a:off x="868680" y="4160520"/>
            <a:ext cx="3657600" cy="658368"/>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J.RESHMA SAMHITHA</a:t>
            </a:r>
            <a:endParaRPr lang="en-US" sz="1800" dirty="0"/>
          </a:p>
        </p:txBody>
      </p:sp>
      <p:sp>
        <p:nvSpPr>
          <p:cNvPr id="10" name="Text 7"/>
          <p:cNvSpPr txBox="1"/>
          <p:nvPr/>
        </p:nvSpPr>
        <p:spPr>
          <a:xfrm>
            <a:off x="4206240" y="4160520"/>
            <a:ext cx="2286000" cy="658368"/>
          </a:xfrm>
          <a:prstGeom prst="rect">
            <a:avLst/>
          </a:prstGeom>
          <a:noFill/>
          <a:ln/>
        </p:spPr>
        <p:txBody>
          <a:bodyPr wrap="square" lIns="0" tIns="0" rIns="0" bIns="0" rtlCol="0" anchor="ctr"/>
          <a:lstStyle/>
          <a:p>
            <a:pPr marL="0" indent="0" algn="r">
              <a:buNone/>
            </a:pPr>
            <a:r>
              <a:rPr lang="en-US" sz="1800" dirty="0">
                <a:solidFill>
                  <a:srgbClr val="F2A7B4"/>
                </a:solidFill>
                <a:latin typeface="Calibri" pitchFamily="34" charset="0"/>
                <a:ea typeface="Calibri" pitchFamily="34" charset="-122"/>
                <a:cs typeface="Calibri" pitchFamily="34" charset="-120"/>
              </a:rPr>
              <a:t>2620030199</a:t>
            </a:r>
            <a:endParaRPr lang="en-US" sz="1800" dirty="0"/>
          </a:p>
        </p:txBody>
      </p:sp>
      <p:sp>
        <p:nvSpPr>
          <p:cNvPr id="11" name="Shape 8"/>
          <p:cNvSpPr/>
          <p:nvPr/>
        </p:nvSpPr>
        <p:spPr>
          <a:xfrm>
            <a:off x="640080" y="4983480"/>
            <a:ext cx="6035040" cy="658368"/>
          </a:xfrm>
          <a:prstGeom prst="roundRect">
            <a:avLst>
              <a:gd name="adj" fmla="val 16667"/>
            </a:avLst>
          </a:prstGeom>
          <a:solidFill>
            <a:srgbClr val="FFFFFF">
              <a:alpha val="10000"/>
            </a:srgbClr>
          </a:solidFill>
          <a:ln w="12700">
            <a:solidFill>
              <a:srgbClr val="FFFFFF">
                <a:alpha val="25000"/>
              </a:srgbClr>
            </a:solidFill>
            <a:prstDash val="solid"/>
          </a:ln>
        </p:spPr>
      </p:sp>
      <p:sp>
        <p:nvSpPr>
          <p:cNvPr id="12" name="Text 9"/>
          <p:cNvSpPr txBox="1"/>
          <p:nvPr/>
        </p:nvSpPr>
        <p:spPr>
          <a:xfrm>
            <a:off x="868680" y="4983480"/>
            <a:ext cx="3657600" cy="658368"/>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S.SHANMUKHA PRIYA</a:t>
            </a:r>
            <a:endParaRPr lang="en-US" sz="1800" dirty="0"/>
          </a:p>
        </p:txBody>
      </p:sp>
      <p:sp>
        <p:nvSpPr>
          <p:cNvPr id="13" name="Text 10"/>
          <p:cNvSpPr txBox="1"/>
          <p:nvPr/>
        </p:nvSpPr>
        <p:spPr>
          <a:xfrm>
            <a:off x="4206240" y="4983480"/>
            <a:ext cx="2286000" cy="658368"/>
          </a:xfrm>
          <a:prstGeom prst="rect">
            <a:avLst/>
          </a:prstGeom>
          <a:noFill/>
          <a:ln/>
        </p:spPr>
        <p:txBody>
          <a:bodyPr wrap="square" lIns="0" tIns="0" rIns="0" bIns="0" rtlCol="0" anchor="ctr"/>
          <a:lstStyle/>
          <a:p>
            <a:pPr marL="0" indent="0" algn="r">
              <a:buNone/>
            </a:pPr>
            <a:r>
              <a:rPr lang="en-US" sz="1800" dirty="0">
                <a:solidFill>
                  <a:srgbClr val="F2A7B4"/>
                </a:solidFill>
                <a:latin typeface="Calibri" pitchFamily="34" charset="0"/>
                <a:ea typeface="Calibri" pitchFamily="34" charset="-122"/>
                <a:cs typeface="Calibri" pitchFamily="34" charset="-120"/>
              </a:rPr>
              <a:t>2620030200</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name="Slide 2">
    <p:bg>
      <p:bgPr>
        <a:solidFill>
          <a:srgbClr val="FBF3F4"/>
        </a:solidFill>
        <a:effectLst/>
      </p:bgPr>
    </p:bg>
    <p:spTree>
      <p:nvGrpSpPr>
        <p:cNvPr id="1" name=""/>
        <p:cNvGrpSpPr/>
        <p:nvPr/>
      </p:nvGrpSpPr>
      <p:grpSpPr>
        <a:xfrm>
          <a:off x="0" y="0"/>
          <a:ext cx="0" cy="0"/>
          <a:chOff x="0" y="0"/>
          <a:chExt cx="0" cy="0"/>
        </a:xfrm>
      </p:grpSpPr>
      <p:sp>
        <p:nvSpPr>
          <p:cNvPr id="2" name="Shape 0"/>
          <p:cNvSpPr/>
          <p:nvPr/>
        </p:nvSpPr>
        <p:spPr>
          <a:xfrm>
            <a:off x="548640" y="411480"/>
            <a:ext cx="731520" cy="731520"/>
          </a:xfrm>
          <a:prstGeom prst="ellipse">
            <a:avLst/>
          </a:prstGeom>
          <a:solidFill>
            <a:srgbClr val="9B1B30"/>
          </a:solidFill>
          <a:ln w="12700">
            <a:solidFill>
              <a:srgbClr val="9B1B30"/>
            </a:solidFill>
            <a:prstDash val="solid"/>
          </a:ln>
        </p:spPr>
      </p:sp>
      <p:pic>
        <p:nvPicPr>
          <p:cNvPr id="3" name="Image 0" descr="preencoded.png"/>
          <p:cNvPicPr>
            <a:picLocks noChangeAspect="1"/>
          </p:cNvPicPr>
          <p:nvPr/>
        </p:nvPicPr>
        <p:blipFill>
          <a:blip r:embed="rId3"/>
          <a:stretch>
            <a:fillRect/>
          </a:stretch>
        </p:blipFill>
        <p:spPr>
          <a:xfrm>
            <a:off x="731520" y="594360"/>
            <a:ext cx="365760" cy="365760"/>
          </a:xfrm>
          <a:prstGeom prst="rect">
            <a:avLst/>
          </a:prstGeom>
        </p:spPr>
      </p:pic>
      <p:sp>
        <p:nvSpPr>
          <p:cNvPr id="4" name="Text 1"/>
          <p:cNvSpPr txBox="1"/>
          <p:nvPr/>
        </p:nvSpPr>
        <p:spPr>
          <a:xfrm>
            <a:off x="1463040" y="411480"/>
            <a:ext cx="9601200" cy="731520"/>
          </a:xfrm>
          <a:prstGeom prst="rect">
            <a:avLst/>
          </a:prstGeom>
          <a:noFill/>
          <a:ln/>
        </p:spPr>
        <p:txBody>
          <a:bodyPr wrap="square" lIns="0" tIns="0" rIns="0" bIns="0" rtlCol="0" anchor="ctr"/>
          <a:lstStyle/>
          <a:p>
            <a:pPr marL="0" indent="0">
              <a:buNone/>
            </a:pPr>
            <a:r>
              <a:rPr lang="en-US" sz="3600" b="1" dirty="0">
                <a:solidFill>
                  <a:srgbClr val="3A0A14"/>
                </a:solidFill>
                <a:latin typeface="Cambria" pitchFamily="34" charset="0"/>
                <a:ea typeface="Cambria" pitchFamily="34" charset="-122"/>
                <a:cs typeface="Cambria" pitchFamily="34" charset="-120"/>
              </a:rPr>
              <a:t>ABSTRACT</a:t>
            </a:r>
            <a:endParaRPr lang="en-US" sz="3600" dirty="0"/>
          </a:p>
        </p:txBody>
      </p:sp>
      <p:sp>
        <p:nvSpPr>
          <p:cNvPr id="5" name="Shape 2"/>
          <p:cNvSpPr/>
          <p:nvPr/>
        </p:nvSpPr>
        <p:spPr>
          <a:xfrm>
            <a:off x="548640" y="1554480"/>
            <a:ext cx="6400800" cy="4480560"/>
          </a:xfrm>
          <a:prstGeom prst="roundRect">
            <a:avLst>
              <a:gd name="adj" fmla="val 2449"/>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6" name="Text 3"/>
          <p:cNvSpPr txBox="1"/>
          <p:nvPr/>
        </p:nvSpPr>
        <p:spPr>
          <a:xfrm>
            <a:off x="868680" y="1783080"/>
            <a:ext cx="5760720" cy="4023360"/>
          </a:xfrm>
          <a:prstGeom prst="rect">
            <a:avLst/>
          </a:prstGeom>
          <a:noFill/>
          <a:ln/>
        </p:spPr>
        <p:txBody>
          <a:bodyPr wrap="square" lIns="0" tIns="0" rIns="0" bIns="0" rtlCol="0" anchor="ctr"/>
          <a:lstStyle/>
          <a:p>
            <a:pPr marL="0" indent="0">
              <a:spcAft>
                <a:spcPts val="600"/>
              </a:spcAft>
              <a:buNone/>
            </a:pPr>
            <a:r>
              <a:rPr lang="en-US" sz="1800" dirty="0">
                <a:solidFill>
                  <a:srgbClr val="2B2B33"/>
                </a:solidFill>
                <a:latin typeface="Calibri" pitchFamily="34" charset="0"/>
                <a:ea typeface="Calibri" pitchFamily="34" charset="-122"/>
                <a:cs typeface="Calibri" pitchFamily="34" charset="-120"/>
              </a:rPr>
              <a:t>The project focuses on making blood bank inventory management simple, accurate, and convenient. It records blood units according to blood group, manages donor details, and helps find suitable donors when blood is required. It monitors blood stock levels and helps identify low-stock blood groups. The system reduces manual calculations and makes blood availability information easier to manage.</a:t>
            </a:r>
            <a:endParaRPr lang="en-US" sz="1800" dirty="0"/>
          </a:p>
        </p:txBody>
      </p:sp>
      <p:sp>
        <p:nvSpPr>
          <p:cNvPr id="7" name="Shape 4"/>
          <p:cNvSpPr/>
          <p:nvPr/>
        </p:nvSpPr>
        <p:spPr>
          <a:xfrm>
            <a:off x="7315200" y="1554480"/>
            <a:ext cx="4297680" cy="1371600"/>
          </a:xfrm>
          <a:prstGeom prst="roundRect">
            <a:avLst>
              <a:gd name="adj" fmla="val 8000"/>
            </a:avLst>
          </a:prstGeom>
          <a:solidFill>
            <a:srgbClr val="F8E1E5"/>
          </a:solidFill>
          <a:ln w="12700">
            <a:solidFill>
              <a:srgbClr val="F8E1E5"/>
            </a:solidFill>
            <a:prstDash val="solid"/>
          </a:ln>
        </p:spPr>
      </p:sp>
      <p:sp>
        <p:nvSpPr>
          <p:cNvPr id="8" name="Shape 5"/>
          <p:cNvSpPr/>
          <p:nvPr/>
        </p:nvSpPr>
        <p:spPr>
          <a:xfrm>
            <a:off x="7589520" y="1874520"/>
            <a:ext cx="731520" cy="731520"/>
          </a:xfrm>
          <a:prstGeom prst="ellipse">
            <a:avLst/>
          </a:prstGeom>
          <a:solidFill>
            <a:srgbClr val="9B1B30"/>
          </a:solidFill>
          <a:ln w="12700">
            <a:solidFill>
              <a:srgbClr val="9B1B30"/>
            </a:solidFill>
            <a:prstDash val="solid"/>
          </a:ln>
        </p:spPr>
      </p:sp>
      <p:pic>
        <p:nvPicPr>
          <p:cNvPr id="9" name="Image 1" descr="preencoded.png"/>
          <p:cNvPicPr>
            <a:picLocks noChangeAspect="1"/>
          </p:cNvPicPr>
          <p:nvPr/>
        </p:nvPicPr>
        <p:blipFill>
          <a:blip r:embed="rId4"/>
          <a:stretch>
            <a:fillRect/>
          </a:stretch>
        </p:blipFill>
        <p:spPr>
          <a:xfrm>
            <a:off x="7772400" y="2057400"/>
            <a:ext cx="365760" cy="365760"/>
          </a:xfrm>
          <a:prstGeom prst="rect">
            <a:avLst/>
          </a:prstGeom>
        </p:spPr>
      </p:pic>
      <p:sp>
        <p:nvSpPr>
          <p:cNvPr id="10" name="Text 6"/>
          <p:cNvSpPr txBox="1"/>
          <p:nvPr/>
        </p:nvSpPr>
        <p:spPr>
          <a:xfrm>
            <a:off x="8503920" y="1554480"/>
            <a:ext cx="2926080" cy="1371600"/>
          </a:xfrm>
          <a:prstGeom prst="rect">
            <a:avLst/>
          </a:prstGeom>
          <a:noFill/>
          <a:ln/>
        </p:spPr>
        <p:txBody>
          <a:bodyPr wrap="square" lIns="0" tIns="0" rIns="0" bIns="0" rtlCol="0" anchor="ctr"/>
          <a:lstStyle/>
          <a:p>
            <a:pPr marL="0" indent="0">
              <a:buNone/>
            </a:pPr>
            <a:r>
              <a:rPr lang="en-US" sz="1800" b="1" dirty="0">
                <a:solidFill>
                  <a:srgbClr val="3A0A14"/>
                </a:solidFill>
                <a:latin typeface="Calibri" pitchFamily="34" charset="0"/>
                <a:ea typeface="Calibri" pitchFamily="34" charset="-122"/>
                <a:cs typeface="Calibri" pitchFamily="34" charset="-120"/>
              </a:rPr>
              <a:t>Blood units by group</a:t>
            </a:r>
            <a:endParaRPr lang="en-US" sz="1800" dirty="0"/>
          </a:p>
        </p:txBody>
      </p:sp>
      <p:sp>
        <p:nvSpPr>
          <p:cNvPr id="11" name="Shape 7"/>
          <p:cNvSpPr/>
          <p:nvPr/>
        </p:nvSpPr>
        <p:spPr>
          <a:xfrm>
            <a:off x="7315200" y="3081528"/>
            <a:ext cx="4297680" cy="1371600"/>
          </a:xfrm>
          <a:prstGeom prst="roundRect">
            <a:avLst>
              <a:gd name="adj" fmla="val 8000"/>
            </a:avLst>
          </a:prstGeom>
          <a:solidFill>
            <a:srgbClr val="9B1B30"/>
          </a:solidFill>
          <a:ln w="12700">
            <a:solidFill>
              <a:srgbClr val="9B1B30"/>
            </a:solidFill>
            <a:prstDash val="solid"/>
          </a:ln>
        </p:spPr>
      </p:sp>
      <p:sp>
        <p:nvSpPr>
          <p:cNvPr id="12" name="Shape 8"/>
          <p:cNvSpPr/>
          <p:nvPr/>
        </p:nvSpPr>
        <p:spPr>
          <a:xfrm>
            <a:off x="7589520" y="3401568"/>
            <a:ext cx="731520" cy="731520"/>
          </a:xfrm>
          <a:prstGeom prst="ellipse">
            <a:avLst/>
          </a:prstGeom>
          <a:solidFill>
            <a:srgbClr val="D6455D"/>
          </a:solidFill>
          <a:ln w="12700">
            <a:solidFill>
              <a:srgbClr val="D6455D"/>
            </a:solidFill>
            <a:prstDash val="solid"/>
          </a:ln>
        </p:spPr>
      </p:sp>
      <p:pic>
        <p:nvPicPr>
          <p:cNvPr id="13" name="Image 2" descr="preencoded.png"/>
          <p:cNvPicPr>
            <a:picLocks noChangeAspect="1"/>
          </p:cNvPicPr>
          <p:nvPr/>
        </p:nvPicPr>
        <p:blipFill>
          <a:blip r:embed="rId5"/>
          <a:stretch>
            <a:fillRect/>
          </a:stretch>
        </p:blipFill>
        <p:spPr>
          <a:xfrm>
            <a:off x="7772400" y="3584448"/>
            <a:ext cx="365760" cy="365760"/>
          </a:xfrm>
          <a:prstGeom prst="rect">
            <a:avLst/>
          </a:prstGeom>
        </p:spPr>
      </p:pic>
      <p:sp>
        <p:nvSpPr>
          <p:cNvPr id="14" name="Text 9"/>
          <p:cNvSpPr txBox="1"/>
          <p:nvPr/>
        </p:nvSpPr>
        <p:spPr>
          <a:xfrm>
            <a:off x="8503920" y="3081528"/>
            <a:ext cx="2926080" cy="137160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Donor details &amp; matching</a:t>
            </a:r>
            <a:endParaRPr lang="en-US" sz="1800" dirty="0"/>
          </a:p>
        </p:txBody>
      </p:sp>
      <p:sp>
        <p:nvSpPr>
          <p:cNvPr id="15" name="Shape 10"/>
          <p:cNvSpPr/>
          <p:nvPr/>
        </p:nvSpPr>
        <p:spPr>
          <a:xfrm>
            <a:off x="7315200" y="4608576"/>
            <a:ext cx="4297680" cy="1371600"/>
          </a:xfrm>
          <a:prstGeom prst="roundRect">
            <a:avLst>
              <a:gd name="adj" fmla="val 8000"/>
            </a:avLst>
          </a:prstGeom>
          <a:solidFill>
            <a:srgbClr val="F8E1E5"/>
          </a:solidFill>
          <a:ln w="12700">
            <a:solidFill>
              <a:srgbClr val="F8E1E5"/>
            </a:solidFill>
            <a:prstDash val="solid"/>
          </a:ln>
        </p:spPr>
      </p:sp>
      <p:sp>
        <p:nvSpPr>
          <p:cNvPr id="16" name="Shape 11"/>
          <p:cNvSpPr/>
          <p:nvPr/>
        </p:nvSpPr>
        <p:spPr>
          <a:xfrm>
            <a:off x="7589520" y="4928616"/>
            <a:ext cx="731520" cy="731520"/>
          </a:xfrm>
          <a:prstGeom prst="ellipse">
            <a:avLst/>
          </a:prstGeom>
          <a:solidFill>
            <a:srgbClr val="9B1B30"/>
          </a:solidFill>
          <a:ln w="12700">
            <a:solidFill>
              <a:srgbClr val="9B1B30"/>
            </a:solidFill>
            <a:prstDash val="solid"/>
          </a:ln>
        </p:spPr>
      </p:sp>
      <p:pic>
        <p:nvPicPr>
          <p:cNvPr id="17" name="Image 3" descr="preencoded.png"/>
          <p:cNvPicPr>
            <a:picLocks noChangeAspect="1"/>
          </p:cNvPicPr>
          <p:nvPr/>
        </p:nvPicPr>
        <p:blipFill>
          <a:blip r:embed="rId6"/>
          <a:stretch>
            <a:fillRect/>
          </a:stretch>
        </p:blipFill>
        <p:spPr>
          <a:xfrm>
            <a:off x="7772400" y="5111496"/>
            <a:ext cx="365760" cy="365760"/>
          </a:xfrm>
          <a:prstGeom prst="rect">
            <a:avLst/>
          </a:prstGeom>
        </p:spPr>
      </p:pic>
      <p:sp>
        <p:nvSpPr>
          <p:cNvPr id="18" name="Text 12"/>
          <p:cNvSpPr txBox="1"/>
          <p:nvPr/>
        </p:nvSpPr>
        <p:spPr>
          <a:xfrm>
            <a:off x="8503920" y="4608576"/>
            <a:ext cx="2926080" cy="1371600"/>
          </a:xfrm>
          <a:prstGeom prst="rect">
            <a:avLst/>
          </a:prstGeom>
          <a:noFill/>
          <a:ln/>
        </p:spPr>
        <p:txBody>
          <a:bodyPr wrap="square" lIns="0" tIns="0" rIns="0" bIns="0" rtlCol="0" anchor="ctr"/>
          <a:lstStyle/>
          <a:p>
            <a:pPr marL="0" indent="0">
              <a:buNone/>
            </a:pPr>
            <a:r>
              <a:rPr lang="en-US" sz="1800" b="1" dirty="0">
                <a:solidFill>
                  <a:srgbClr val="3A0A14"/>
                </a:solidFill>
                <a:latin typeface="Calibri" pitchFamily="34" charset="0"/>
                <a:ea typeface="Calibri" pitchFamily="34" charset="-122"/>
                <a:cs typeface="Calibri" pitchFamily="34" charset="-120"/>
              </a:rPr>
              <a:t>Low-stock monitoring</a:t>
            </a:r>
            <a:endParaRPr lang="en-US" sz="1800" dirty="0"/>
          </a:p>
        </p:txBody>
      </p:sp>
      <p:sp>
        <p:nvSpPr>
          <p:cNvPr id="19" name="Text 13"/>
          <p:cNvSpPr txBox="1"/>
          <p:nvPr/>
        </p:nvSpPr>
        <p:spPr>
          <a:xfrm>
            <a:off x="11247120" y="6355080"/>
            <a:ext cx="548640" cy="274320"/>
          </a:xfrm>
          <a:prstGeom prst="rect">
            <a:avLst/>
          </a:prstGeom>
          <a:noFill/>
          <a:ln/>
        </p:spPr>
        <p:txBody>
          <a:bodyPr wrap="square" lIns="0" tIns="0" rIns="0" bIns="0" rtlCol="0" anchor="ctr"/>
          <a:lstStyle/>
          <a:p>
            <a:pPr marL="0" indent="0" algn="r">
              <a:buNone/>
            </a:pPr>
            <a:r>
              <a:rPr lang="en-US" sz="1200" dirty="0">
                <a:solidFill>
                  <a:srgbClr val="6B5B5F"/>
                </a:solidFill>
                <a:latin typeface="Calibri" pitchFamily="34" charset="0"/>
                <a:ea typeface="Calibri" pitchFamily="34" charset="-122"/>
                <a:cs typeface="Calibri"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name="Slide 3">
    <p:bg>
      <p:bgPr>
        <a:solidFill>
          <a:srgbClr val="FBF3F4"/>
        </a:solidFill>
        <a:effectLst/>
      </p:bgPr>
    </p:bg>
    <p:spTree>
      <p:nvGrpSpPr>
        <p:cNvPr id="1" name=""/>
        <p:cNvGrpSpPr/>
        <p:nvPr/>
      </p:nvGrpSpPr>
      <p:grpSpPr>
        <a:xfrm>
          <a:off x="0" y="0"/>
          <a:ext cx="0" cy="0"/>
          <a:chOff x="0" y="0"/>
          <a:chExt cx="0" cy="0"/>
        </a:xfrm>
      </p:grpSpPr>
      <p:sp>
        <p:nvSpPr>
          <p:cNvPr id="2" name="Shape 0"/>
          <p:cNvSpPr/>
          <p:nvPr/>
        </p:nvSpPr>
        <p:spPr>
          <a:xfrm>
            <a:off x="548640" y="411480"/>
            <a:ext cx="731520" cy="731520"/>
          </a:xfrm>
          <a:prstGeom prst="ellipse">
            <a:avLst/>
          </a:prstGeom>
          <a:solidFill>
            <a:srgbClr val="9B1B30"/>
          </a:solidFill>
          <a:ln w="12700">
            <a:solidFill>
              <a:srgbClr val="9B1B30"/>
            </a:solidFill>
            <a:prstDash val="solid"/>
          </a:ln>
        </p:spPr>
      </p:sp>
      <p:pic>
        <p:nvPicPr>
          <p:cNvPr id="3" name="Image 0" descr="preencoded.png"/>
          <p:cNvPicPr>
            <a:picLocks noChangeAspect="1"/>
          </p:cNvPicPr>
          <p:nvPr/>
        </p:nvPicPr>
        <p:blipFill>
          <a:blip r:embed="rId3"/>
          <a:stretch>
            <a:fillRect/>
          </a:stretch>
        </p:blipFill>
        <p:spPr>
          <a:xfrm>
            <a:off x="731520" y="594360"/>
            <a:ext cx="365760" cy="365760"/>
          </a:xfrm>
          <a:prstGeom prst="rect">
            <a:avLst/>
          </a:prstGeom>
        </p:spPr>
      </p:pic>
      <p:sp>
        <p:nvSpPr>
          <p:cNvPr id="4" name="Text 1"/>
          <p:cNvSpPr txBox="1"/>
          <p:nvPr/>
        </p:nvSpPr>
        <p:spPr>
          <a:xfrm>
            <a:off x="1463040" y="411480"/>
            <a:ext cx="9601200" cy="731520"/>
          </a:xfrm>
          <a:prstGeom prst="rect">
            <a:avLst/>
          </a:prstGeom>
          <a:noFill/>
          <a:ln/>
        </p:spPr>
        <p:txBody>
          <a:bodyPr wrap="square" lIns="0" tIns="0" rIns="0" bIns="0" rtlCol="0" anchor="ctr"/>
          <a:lstStyle/>
          <a:p>
            <a:pPr marL="0" indent="0">
              <a:buNone/>
            </a:pPr>
            <a:r>
              <a:rPr lang="en-US" sz="3600" b="1" dirty="0">
                <a:solidFill>
                  <a:srgbClr val="3A0A14"/>
                </a:solidFill>
                <a:latin typeface="Cambria" pitchFamily="34" charset="0"/>
                <a:ea typeface="Cambria" pitchFamily="34" charset="-122"/>
                <a:cs typeface="Cambria" pitchFamily="34" charset="-120"/>
              </a:rPr>
              <a:t>PROBLEM STATEMENT</a:t>
            </a:r>
            <a:endParaRPr lang="en-US" sz="3600" dirty="0"/>
          </a:p>
        </p:txBody>
      </p:sp>
      <p:sp>
        <p:nvSpPr>
          <p:cNvPr id="5" name="Text 2"/>
          <p:cNvSpPr txBox="1"/>
          <p:nvPr/>
        </p:nvSpPr>
        <p:spPr>
          <a:xfrm>
            <a:off x="548640" y="1417320"/>
            <a:ext cx="11064240" cy="1280160"/>
          </a:xfrm>
          <a:prstGeom prst="rect">
            <a:avLst/>
          </a:prstGeom>
          <a:noFill/>
          <a:ln/>
        </p:spPr>
        <p:txBody>
          <a:bodyPr wrap="square" lIns="0" tIns="0" rIns="0" bIns="0" rtlCol="0" anchor="ctr"/>
          <a:lstStyle/>
          <a:p>
            <a:pPr marL="0" indent="0">
              <a:buNone/>
            </a:pPr>
            <a:r>
              <a:rPr lang="en-US" sz="1800" dirty="0">
                <a:solidFill>
                  <a:srgbClr val="2B2B33"/>
                </a:solidFill>
                <a:latin typeface="Calibri" pitchFamily="34" charset="0"/>
                <a:ea typeface="Calibri" pitchFamily="34" charset="-122"/>
                <a:cs typeface="Calibri" pitchFamily="34" charset="-120"/>
              </a:rPr>
              <a:t>Today, blood banks are not digitally connected, and finding blood donors is done manually. Because of this, hospitals waste hours making phone calls during life-or-death emergencies, while rare blood types expire and go to waste in nearby facilities.</a:t>
            </a:r>
            <a:endParaRPr lang="en-US" sz="1800" dirty="0"/>
          </a:p>
        </p:txBody>
      </p:sp>
      <p:sp>
        <p:nvSpPr>
          <p:cNvPr id="6" name="Shape 3"/>
          <p:cNvSpPr/>
          <p:nvPr/>
        </p:nvSpPr>
        <p:spPr>
          <a:xfrm>
            <a:off x="548640" y="3017520"/>
            <a:ext cx="3566160" cy="2926080"/>
          </a:xfrm>
          <a:prstGeom prst="roundRect">
            <a:avLst>
              <a:gd name="adj" fmla="val 3750"/>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7" name="Shape 4"/>
          <p:cNvSpPr/>
          <p:nvPr/>
        </p:nvSpPr>
        <p:spPr>
          <a:xfrm>
            <a:off x="868680" y="3291840"/>
            <a:ext cx="914400" cy="914400"/>
          </a:xfrm>
          <a:prstGeom prst="ellipse">
            <a:avLst/>
          </a:prstGeom>
          <a:solidFill>
            <a:srgbClr val="9B1B30"/>
          </a:solidFill>
          <a:ln w="12700">
            <a:solidFill>
              <a:srgbClr val="9B1B30"/>
            </a:solidFill>
            <a:prstDash val="solid"/>
          </a:ln>
        </p:spPr>
      </p:sp>
      <p:pic>
        <p:nvPicPr>
          <p:cNvPr id="8" name="Image 1" descr="preencoded.png"/>
          <p:cNvPicPr>
            <a:picLocks noChangeAspect="1"/>
          </p:cNvPicPr>
          <p:nvPr/>
        </p:nvPicPr>
        <p:blipFill>
          <a:blip r:embed="rId4"/>
          <a:stretch>
            <a:fillRect/>
          </a:stretch>
        </p:blipFill>
        <p:spPr>
          <a:xfrm>
            <a:off x="1097280" y="3520440"/>
            <a:ext cx="457200" cy="457200"/>
          </a:xfrm>
          <a:prstGeom prst="rect">
            <a:avLst/>
          </a:prstGeom>
        </p:spPr>
      </p:pic>
      <p:sp>
        <p:nvSpPr>
          <p:cNvPr id="9" name="Text 5"/>
          <p:cNvSpPr txBox="1"/>
          <p:nvPr/>
        </p:nvSpPr>
        <p:spPr>
          <a:xfrm>
            <a:off x="868680" y="4389120"/>
            <a:ext cx="3017520" cy="411480"/>
          </a:xfrm>
          <a:prstGeom prst="rect">
            <a:avLst/>
          </a:prstGeom>
          <a:noFill/>
          <a:ln/>
        </p:spPr>
        <p:txBody>
          <a:bodyPr wrap="square" lIns="0" tIns="0" rIns="0" bIns="0" rtlCol="0" anchor="ctr"/>
          <a:lstStyle/>
          <a:p>
            <a:pPr marL="0" indent="0">
              <a:buNone/>
            </a:pPr>
            <a:r>
              <a:rPr lang="en-US" sz="2200" b="1" dirty="0">
                <a:solidFill>
                  <a:srgbClr val="3A0A14"/>
                </a:solidFill>
                <a:latin typeface="Cambria" pitchFamily="34" charset="0"/>
                <a:ea typeface="Cambria" pitchFamily="34" charset="-122"/>
                <a:cs typeface="Cambria" pitchFamily="34" charset="-120"/>
              </a:rPr>
              <a:t>Manual phone calls</a:t>
            </a:r>
            <a:endParaRPr lang="en-US" sz="2200" dirty="0"/>
          </a:p>
        </p:txBody>
      </p:sp>
      <p:sp>
        <p:nvSpPr>
          <p:cNvPr id="10" name="Text 6"/>
          <p:cNvSpPr txBox="1"/>
          <p:nvPr/>
        </p:nvSpPr>
        <p:spPr>
          <a:xfrm>
            <a:off x="868680" y="4846320"/>
            <a:ext cx="3017520" cy="868680"/>
          </a:xfrm>
          <a:prstGeom prst="rect">
            <a:avLst/>
          </a:prstGeom>
          <a:noFill/>
          <a:ln/>
        </p:spPr>
        <p:txBody>
          <a:bodyPr wrap="square" lIns="0" tIns="0" rIns="0" bIns="0" rtlCol="0" anchor="t"/>
          <a:lstStyle/>
          <a:p>
            <a:pPr marL="0" indent="0">
              <a:buNone/>
            </a:pPr>
            <a:r>
              <a:rPr lang="en-US" sz="1500" dirty="0">
                <a:solidFill>
                  <a:srgbClr val="6B5B5F"/>
                </a:solidFill>
                <a:latin typeface="Calibri" pitchFamily="34" charset="0"/>
                <a:ea typeface="Calibri" pitchFamily="34" charset="-122"/>
                <a:cs typeface="Calibri" pitchFamily="34" charset="-120"/>
              </a:rPr>
              <a:t>Hospitals spend hours calling around in emergencies</a:t>
            </a:r>
            <a:endParaRPr lang="en-US" sz="1500" dirty="0"/>
          </a:p>
        </p:txBody>
      </p:sp>
      <p:sp>
        <p:nvSpPr>
          <p:cNvPr id="11" name="Shape 7"/>
          <p:cNvSpPr/>
          <p:nvPr/>
        </p:nvSpPr>
        <p:spPr>
          <a:xfrm>
            <a:off x="4297680" y="3017520"/>
            <a:ext cx="3566160" cy="2926080"/>
          </a:xfrm>
          <a:prstGeom prst="roundRect">
            <a:avLst>
              <a:gd name="adj" fmla="val 3750"/>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12" name="Shape 8"/>
          <p:cNvSpPr/>
          <p:nvPr/>
        </p:nvSpPr>
        <p:spPr>
          <a:xfrm>
            <a:off x="4617720" y="3291840"/>
            <a:ext cx="914400" cy="914400"/>
          </a:xfrm>
          <a:prstGeom prst="ellipse">
            <a:avLst/>
          </a:prstGeom>
          <a:solidFill>
            <a:srgbClr val="9B1B30"/>
          </a:solidFill>
          <a:ln w="12700">
            <a:solidFill>
              <a:srgbClr val="9B1B30"/>
            </a:solidFill>
            <a:prstDash val="solid"/>
          </a:ln>
        </p:spPr>
      </p:sp>
      <p:pic>
        <p:nvPicPr>
          <p:cNvPr id="13" name="Image 2" descr="preencoded.png"/>
          <p:cNvPicPr>
            <a:picLocks noChangeAspect="1"/>
          </p:cNvPicPr>
          <p:nvPr/>
        </p:nvPicPr>
        <p:blipFill>
          <a:blip r:embed="rId5"/>
          <a:stretch>
            <a:fillRect/>
          </a:stretch>
        </p:blipFill>
        <p:spPr>
          <a:xfrm>
            <a:off x="4846320" y="3520440"/>
            <a:ext cx="457200" cy="457200"/>
          </a:xfrm>
          <a:prstGeom prst="rect">
            <a:avLst/>
          </a:prstGeom>
        </p:spPr>
      </p:pic>
      <p:sp>
        <p:nvSpPr>
          <p:cNvPr id="14" name="Text 9"/>
          <p:cNvSpPr txBox="1"/>
          <p:nvPr/>
        </p:nvSpPr>
        <p:spPr>
          <a:xfrm>
            <a:off x="4617720" y="4389120"/>
            <a:ext cx="3017520" cy="411480"/>
          </a:xfrm>
          <a:prstGeom prst="rect">
            <a:avLst/>
          </a:prstGeom>
          <a:noFill/>
          <a:ln/>
        </p:spPr>
        <p:txBody>
          <a:bodyPr wrap="square" lIns="0" tIns="0" rIns="0" bIns="0" rtlCol="0" anchor="ctr"/>
          <a:lstStyle/>
          <a:p>
            <a:pPr marL="0" indent="0">
              <a:buNone/>
            </a:pPr>
            <a:r>
              <a:rPr lang="en-US" sz="2200" b="1" dirty="0">
                <a:solidFill>
                  <a:srgbClr val="3A0A14"/>
                </a:solidFill>
                <a:latin typeface="Cambria" pitchFamily="34" charset="0"/>
                <a:ea typeface="Cambria" pitchFamily="34" charset="-122"/>
                <a:cs typeface="Cambria" pitchFamily="34" charset="-120"/>
              </a:rPr>
              <a:t>Not connected</a:t>
            </a:r>
            <a:endParaRPr lang="en-US" sz="2200" dirty="0"/>
          </a:p>
        </p:txBody>
      </p:sp>
      <p:sp>
        <p:nvSpPr>
          <p:cNvPr id="15" name="Text 10"/>
          <p:cNvSpPr txBox="1"/>
          <p:nvPr/>
        </p:nvSpPr>
        <p:spPr>
          <a:xfrm>
            <a:off x="4617720" y="4846320"/>
            <a:ext cx="3017520" cy="868680"/>
          </a:xfrm>
          <a:prstGeom prst="rect">
            <a:avLst/>
          </a:prstGeom>
          <a:noFill/>
          <a:ln/>
        </p:spPr>
        <p:txBody>
          <a:bodyPr wrap="square" lIns="0" tIns="0" rIns="0" bIns="0" rtlCol="0" anchor="t"/>
          <a:lstStyle/>
          <a:p>
            <a:pPr marL="0" indent="0">
              <a:buNone/>
            </a:pPr>
            <a:r>
              <a:rPr lang="en-US" sz="1500" dirty="0">
                <a:solidFill>
                  <a:srgbClr val="6B5B5F"/>
                </a:solidFill>
                <a:latin typeface="Calibri" pitchFamily="34" charset="0"/>
                <a:ea typeface="Calibri" pitchFamily="34" charset="-122"/>
                <a:cs typeface="Calibri" pitchFamily="34" charset="-120"/>
              </a:rPr>
              <a:t>Blood banks are not digitally linked to each other</a:t>
            </a:r>
            <a:endParaRPr lang="en-US" sz="1500" dirty="0"/>
          </a:p>
        </p:txBody>
      </p:sp>
      <p:sp>
        <p:nvSpPr>
          <p:cNvPr id="16" name="Shape 11"/>
          <p:cNvSpPr/>
          <p:nvPr/>
        </p:nvSpPr>
        <p:spPr>
          <a:xfrm>
            <a:off x="8046720" y="3017520"/>
            <a:ext cx="3566160" cy="2926080"/>
          </a:xfrm>
          <a:prstGeom prst="roundRect">
            <a:avLst>
              <a:gd name="adj" fmla="val 3750"/>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17" name="Shape 12"/>
          <p:cNvSpPr/>
          <p:nvPr/>
        </p:nvSpPr>
        <p:spPr>
          <a:xfrm>
            <a:off x="8366760" y="3291840"/>
            <a:ext cx="914400" cy="914400"/>
          </a:xfrm>
          <a:prstGeom prst="ellipse">
            <a:avLst/>
          </a:prstGeom>
          <a:solidFill>
            <a:srgbClr val="9B1B30"/>
          </a:solidFill>
          <a:ln w="12700">
            <a:solidFill>
              <a:srgbClr val="9B1B30"/>
            </a:solidFill>
            <a:prstDash val="solid"/>
          </a:ln>
        </p:spPr>
      </p:sp>
      <p:pic>
        <p:nvPicPr>
          <p:cNvPr id="18" name="Image 3" descr="preencoded.png"/>
          <p:cNvPicPr>
            <a:picLocks noChangeAspect="1"/>
          </p:cNvPicPr>
          <p:nvPr/>
        </p:nvPicPr>
        <p:blipFill>
          <a:blip r:embed="rId6"/>
          <a:stretch>
            <a:fillRect/>
          </a:stretch>
        </p:blipFill>
        <p:spPr>
          <a:xfrm>
            <a:off x="8595360" y="3520440"/>
            <a:ext cx="457200" cy="457200"/>
          </a:xfrm>
          <a:prstGeom prst="rect">
            <a:avLst/>
          </a:prstGeom>
        </p:spPr>
      </p:pic>
      <p:sp>
        <p:nvSpPr>
          <p:cNvPr id="19" name="Text 13"/>
          <p:cNvSpPr txBox="1"/>
          <p:nvPr/>
        </p:nvSpPr>
        <p:spPr>
          <a:xfrm>
            <a:off x="8366760" y="4389120"/>
            <a:ext cx="3017520" cy="411480"/>
          </a:xfrm>
          <a:prstGeom prst="rect">
            <a:avLst/>
          </a:prstGeom>
          <a:noFill/>
          <a:ln/>
        </p:spPr>
        <p:txBody>
          <a:bodyPr wrap="square" lIns="0" tIns="0" rIns="0" bIns="0" rtlCol="0" anchor="ctr"/>
          <a:lstStyle/>
          <a:p>
            <a:pPr marL="0" indent="0">
              <a:buNone/>
            </a:pPr>
            <a:r>
              <a:rPr lang="en-US" sz="2200" b="1" dirty="0">
                <a:solidFill>
                  <a:srgbClr val="3A0A14"/>
                </a:solidFill>
                <a:latin typeface="Cambria" pitchFamily="34" charset="0"/>
                <a:ea typeface="Cambria" pitchFamily="34" charset="-122"/>
                <a:cs typeface="Cambria" pitchFamily="34" charset="-120"/>
              </a:rPr>
              <a:t>Rare blood expires</a:t>
            </a:r>
            <a:endParaRPr lang="en-US" sz="2200" dirty="0"/>
          </a:p>
        </p:txBody>
      </p:sp>
      <p:sp>
        <p:nvSpPr>
          <p:cNvPr id="20" name="Text 14"/>
          <p:cNvSpPr txBox="1"/>
          <p:nvPr/>
        </p:nvSpPr>
        <p:spPr>
          <a:xfrm>
            <a:off x="8366760" y="4846320"/>
            <a:ext cx="3017520" cy="868680"/>
          </a:xfrm>
          <a:prstGeom prst="rect">
            <a:avLst/>
          </a:prstGeom>
          <a:noFill/>
          <a:ln/>
        </p:spPr>
        <p:txBody>
          <a:bodyPr wrap="square" lIns="0" tIns="0" rIns="0" bIns="0" rtlCol="0" anchor="t"/>
          <a:lstStyle/>
          <a:p>
            <a:pPr marL="0" indent="0">
              <a:buNone/>
            </a:pPr>
            <a:r>
              <a:rPr lang="en-US" sz="1500" dirty="0">
                <a:solidFill>
                  <a:srgbClr val="6B5B5F"/>
                </a:solidFill>
                <a:latin typeface="Calibri" pitchFamily="34" charset="0"/>
                <a:ea typeface="Calibri" pitchFamily="34" charset="-122"/>
                <a:cs typeface="Calibri" pitchFamily="34" charset="-120"/>
              </a:rPr>
              <a:t>Unused units go to waste in nearby facilities</a:t>
            </a:r>
            <a:endParaRPr lang="en-US" sz="1500" dirty="0"/>
          </a:p>
        </p:txBody>
      </p:sp>
      <p:sp>
        <p:nvSpPr>
          <p:cNvPr id="21" name="Text 15"/>
          <p:cNvSpPr txBox="1"/>
          <p:nvPr/>
        </p:nvSpPr>
        <p:spPr>
          <a:xfrm>
            <a:off x="11247120" y="6355080"/>
            <a:ext cx="548640" cy="274320"/>
          </a:xfrm>
          <a:prstGeom prst="rect">
            <a:avLst/>
          </a:prstGeom>
          <a:noFill/>
          <a:ln/>
        </p:spPr>
        <p:txBody>
          <a:bodyPr wrap="square" lIns="0" tIns="0" rIns="0" bIns="0" rtlCol="0" anchor="ctr"/>
          <a:lstStyle/>
          <a:p>
            <a:pPr marL="0" indent="0" algn="r">
              <a:buNone/>
            </a:pPr>
            <a:r>
              <a:rPr lang="en-US" sz="1200" dirty="0">
                <a:solidFill>
                  <a:srgbClr val="6B5B5F"/>
                </a:solidFill>
                <a:latin typeface="Calibri" pitchFamily="34" charset="0"/>
                <a:ea typeface="Calibri" pitchFamily="34" charset="-122"/>
                <a:cs typeface="Calibri"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name="Slide 4">
    <p:bg>
      <p:bgPr>
        <a:solidFill>
          <a:srgbClr val="FBF3F4"/>
        </a:solidFill>
        <a:effectLst/>
      </p:bgPr>
    </p:bg>
    <p:spTree>
      <p:nvGrpSpPr>
        <p:cNvPr id="1" name=""/>
        <p:cNvGrpSpPr/>
        <p:nvPr/>
      </p:nvGrpSpPr>
      <p:grpSpPr>
        <a:xfrm>
          <a:off x="0" y="0"/>
          <a:ext cx="0" cy="0"/>
          <a:chOff x="0" y="0"/>
          <a:chExt cx="0" cy="0"/>
        </a:xfrm>
      </p:grpSpPr>
      <p:sp>
        <p:nvSpPr>
          <p:cNvPr id="2" name="Shape 0"/>
          <p:cNvSpPr/>
          <p:nvPr/>
        </p:nvSpPr>
        <p:spPr>
          <a:xfrm>
            <a:off x="548640" y="411480"/>
            <a:ext cx="731520" cy="731520"/>
          </a:xfrm>
          <a:prstGeom prst="ellipse">
            <a:avLst/>
          </a:prstGeom>
          <a:solidFill>
            <a:srgbClr val="9B1B30"/>
          </a:solidFill>
          <a:ln w="12700">
            <a:solidFill>
              <a:srgbClr val="9B1B30"/>
            </a:solidFill>
            <a:prstDash val="solid"/>
          </a:ln>
        </p:spPr>
      </p:sp>
      <p:pic>
        <p:nvPicPr>
          <p:cNvPr id="3" name="Image 0" descr="preencoded.png"/>
          <p:cNvPicPr>
            <a:picLocks noChangeAspect="1"/>
          </p:cNvPicPr>
          <p:nvPr/>
        </p:nvPicPr>
        <p:blipFill>
          <a:blip r:embed="rId3"/>
          <a:stretch>
            <a:fillRect/>
          </a:stretch>
        </p:blipFill>
        <p:spPr>
          <a:xfrm>
            <a:off x="731520" y="594360"/>
            <a:ext cx="365760" cy="365760"/>
          </a:xfrm>
          <a:prstGeom prst="rect">
            <a:avLst/>
          </a:prstGeom>
        </p:spPr>
      </p:pic>
      <p:sp>
        <p:nvSpPr>
          <p:cNvPr id="4" name="Text 1"/>
          <p:cNvSpPr txBox="1"/>
          <p:nvPr/>
        </p:nvSpPr>
        <p:spPr>
          <a:xfrm>
            <a:off x="1463040" y="411480"/>
            <a:ext cx="9601200" cy="731520"/>
          </a:xfrm>
          <a:prstGeom prst="rect">
            <a:avLst/>
          </a:prstGeom>
          <a:noFill/>
          <a:ln/>
        </p:spPr>
        <p:txBody>
          <a:bodyPr wrap="square" lIns="0" tIns="0" rIns="0" bIns="0" rtlCol="0" anchor="ctr"/>
          <a:lstStyle/>
          <a:p>
            <a:pPr marL="0" indent="0">
              <a:buNone/>
            </a:pPr>
            <a:r>
              <a:rPr lang="en-US" sz="3600" b="1" dirty="0">
                <a:solidFill>
                  <a:srgbClr val="3A0A14"/>
                </a:solidFill>
                <a:latin typeface="Cambria" pitchFamily="34" charset="0"/>
                <a:ea typeface="Cambria" pitchFamily="34" charset="-122"/>
                <a:cs typeface="Cambria" pitchFamily="34" charset="-120"/>
              </a:rPr>
              <a:t>EXISTING SYSTEM</a:t>
            </a:r>
            <a:endParaRPr lang="en-US" sz="3600" dirty="0"/>
          </a:p>
        </p:txBody>
      </p:sp>
      <p:sp>
        <p:nvSpPr>
          <p:cNvPr id="5" name="Shape 2"/>
          <p:cNvSpPr/>
          <p:nvPr/>
        </p:nvSpPr>
        <p:spPr>
          <a:xfrm>
            <a:off x="548640" y="1600200"/>
            <a:ext cx="5440680" cy="2057400"/>
          </a:xfrm>
          <a:prstGeom prst="roundRect">
            <a:avLst>
              <a:gd name="adj" fmla="val 5333"/>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6" name="Shape 3"/>
          <p:cNvSpPr/>
          <p:nvPr/>
        </p:nvSpPr>
        <p:spPr>
          <a:xfrm>
            <a:off x="914400" y="2148840"/>
            <a:ext cx="960120" cy="960120"/>
          </a:xfrm>
          <a:prstGeom prst="ellipse">
            <a:avLst/>
          </a:prstGeom>
          <a:solidFill>
            <a:srgbClr val="9B1B30"/>
          </a:solidFill>
          <a:ln w="12700">
            <a:solidFill>
              <a:srgbClr val="9B1B30"/>
            </a:solidFill>
            <a:prstDash val="solid"/>
          </a:ln>
        </p:spPr>
      </p:sp>
      <p:pic>
        <p:nvPicPr>
          <p:cNvPr id="7" name="Image 1" descr="preencoded.png"/>
          <p:cNvPicPr>
            <a:picLocks noChangeAspect="1"/>
          </p:cNvPicPr>
          <p:nvPr/>
        </p:nvPicPr>
        <p:blipFill>
          <a:blip r:embed="rId4"/>
          <a:stretch>
            <a:fillRect/>
          </a:stretch>
        </p:blipFill>
        <p:spPr>
          <a:xfrm>
            <a:off x="1154430" y="2388870"/>
            <a:ext cx="480060" cy="480060"/>
          </a:xfrm>
          <a:prstGeom prst="rect">
            <a:avLst/>
          </a:prstGeom>
        </p:spPr>
      </p:pic>
      <p:sp>
        <p:nvSpPr>
          <p:cNvPr id="8" name="Text 4"/>
          <p:cNvSpPr txBox="1"/>
          <p:nvPr/>
        </p:nvSpPr>
        <p:spPr>
          <a:xfrm>
            <a:off x="2148840" y="1600200"/>
            <a:ext cx="3611880" cy="2057400"/>
          </a:xfrm>
          <a:prstGeom prst="rect">
            <a:avLst/>
          </a:prstGeom>
          <a:noFill/>
          <a:ln/>
        </p:spPr>
        <p:txBody>
          <a:bodyPr wrap="square" lIns="0" tIns="0" rIns="0" bIns="0" rtlCol="0" anchor="ctr"/>
          <a:lstStyle/>
          <a:p>
            <a:pPr marL="0" indent="0">
              <a:buNone/>
            </a:pPr>
            <a:r>
              <a:rPr lang="en-US" sz="2000" dirty="0">
                <a:solidFill>
                  <a:srgbClr val="2B2B33"/>
                </a:solidFill>
                <a:latin typeface="Calibri" pitchFamily="34" charset="0"/>
                <a:ea typeface="Calibri" pitchFamily="34" charset="-122"/>
                <a:cs typeface="Calibri" pitchFamily="34" charset="-120"/>
              </a:rPr>
              <a:t>Blood records may be maintained manually.</a:t>
            </a:r>
            <a:endParaRPr lang="en-US" sz="2000" dirty="0"/>
          </a:p>
        </p:txBody>
      </p:sp>
      <p:sp>
        <p:nvSpPr>
          <p:cNvPr id="9" name="Shape 5"/>
          <p:cNvSpPr/>
          <p:nvPr/>
        </p:nvSpPr>
        <p:spPr>
          <a:xfrm>
            <a:off x="6172200" y="1600200"/>
            <a:ext cx="5440680" cy="2057400"/>
          </a:xfrm>
          <a:prstGeom prst="roundRect">
            <a:avLst>
              <a:gd name="adj" fmla="val 5333"/>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10" name="Shape 6"/>
          <p:cNvSpPr/>
          <p:nvPr/>
        </p:nvSpPr>
        <p:spPr>
          <a:xfrm>
            <a:off x="6537960" y="2148840"/>
            <a:ext cx="960120" cy="960120"/>
          </a:xfrm>
          <a:prstGeom prst="ellipse">
            <a:avLst/>
          </a:prstGeom>
          <a:solidFill>
            <a:srgbClr val="9B1B30"/>
          </a:solidFill>
          <a:ln w="12700">
            <a:solidFill>
              <a:srgbClr val="9B1B30"/>
            </a:solidFill>
            <a:prstDash val="solid"/>
          </a:ln>
        </p:spPr>
      </p:sp>
      <p:pic>
        <p:nvPicPr>
          <p:cNvPr id="11" name="Image 2" descr="preencoded.png"/>
          <p:cNvPicPr>
            <a:picLocks noChangeAspect="1"/>
          </p:cNvPicPr>
          <p:nvPr/>
        </p:nvPicPr>
        <p:blipFill>
          <a:blip r:embed="rId5"/>
          <a:stretch>
            <a:fillRect/>
          </a:stretch>
        </p:blipFill>
        <p:spPr>
          <a:xfrm>
            <a:off x="6777990" y="2388870"/>
            <a:ext cx="480060" cy="480060"/>
          </a:xfrm>
          <a:prstGeom prst="rect">
            <a:avLst/>
          </a:prstGeom>
        </p:spPr>
      </p:pic>
      <p:sp>
        <p:nvSpPr>
          <p:cNvPr id="12" name="Text 7"/>
          <p:cNvSpPr txBox="1"/>
          <p:nvPr/>
        </p:nvSpPr>
        <p:spPr>
          <a:xfrm>
            <a:off x="7772400" y="1600200"/>
            <a:ext cx="3611880" cy="2057400"/>
          </a:xfrm>
          <a:prstGeom prst="rect">
            <a:avLst/>
          </a:prstGeom>
          <a:noFill/>
          <a:ln/>
        </p:spPr>
        <p:txBody>
          <a:bodyPr wrap="square" lIns="0" tIns="0" rIns="0" bIns="0" rtlCol="0" anchor="ctr"/>
          <a:lstStyle/>
          <a:p>
            <a:pPr marL="0" indent="0">
              <a:buNone/>
            </a:pPr>
            <a:r>
              <a:rPr lang="en-US" sz="2000" dirty="0">
                <a:solidFill>
                  <a:srgbClr val="2B2B33"/>
                </a:solidFill>
                <a:latin typeface="Calibri" pitchFamily="34" charset="0"/>
                <a:ea typeface="Calibri" pitchFamily="34" charset="-122"/>
                <a:cs typeface="Calibri" pitchFamily="34" charset="-120"/>
              </a:rPr>
              <a:t>Donor searching can take more time.</a:t>
            </a:r>
            <a:endParaRPr lang="en-US" sz="2000" dirty="0"/>
          </a:p>
        </p:txBody>
      </p:sp>
      <p:sp>
        <p:nvSpPr>
          <p:cNvPr id="13" name="Shape 8"/>
          <p:cNvSpPr/>
          <p:nvPr/>
        </p:nvSpPr>
        <p:spPr>
          <a:xfrm>
            <a:off x="548640" y="3886200"/>
            <a:ext cx="5440680" cy="2057400"/>
          </a:xfrm>
          <a:prstGeom prst="roundRect">
            <a:avLst>
              <a:gd name="adj" fmla="val 5333"/>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14" name="Shape 9"/>
          <p:cNvSpPr/>
          <p:nvPr/>
        </p:nvSpPr>
        <p:spPr>
          <a:xfrm>
            <a:off x="914400" y="4434840"/>
            <a:ext cx="960120" cy="960120"/>
          </a:xfrm>
          <a:prstGeom prst="ellipse">
            <a:avLst/>
          </a:prstGeom>
          <a:solidFill>
            <a:srgbClr val="9B1B30"/>
          </a:solidFill>
          <a:ln w="12700">
            <a:solidFill>
              <a:srgbClr val="9B1B30"/>
            </a:solidFill>
            <a:prstDash val="solid"/>
          </a:ln>
        </p:spPr>
      </p:sp>
      <p:pic>
        <p:nvPicPr>
          <p:cNvPr id="15" name="Image 3" descr="preencoded.png"/>
          <p:cNvPicPr>
            <a:picLocks noChangeAspect="1"/>
          </p:cNvPicPr>
          <p:nvPr/>
        </p:nvPicPr>
        <p:blipFill>
          <a:blip r:embed="rId6"/>
          <a:stretch>
            <a:fillRect/>
          </a:stretch>
        </p:blipFill>
        <p:spPr>
          <a:xfrm>
            <a:off x="1154430" y="4674870"/>
            <a:ext cx="480060" cy="480060"/>
          </a:xfrm>
          <a:prstGeom prst="rect">
            <a:avLst/>
          </a:prstGeom>
        </p:spPr>
      </p:pic>
      <p:sp>
        <p:nvSpPr>
          <p:cNvPr id="16" name="Text 10"/>
          <p:cNvSpPr txBox="1"/>
          <p:nvPr/>
        </p:nvSpPr>
        <p:spPr>
          <a:xfrm>
            <a:off x="2148840" y="3886200"/>
            <a:ext cx="3611880" cy="2057400"/>
          </a:xfrm>
          <a:prstGeom prst="rect">
            <a:avLst/>
          </a:prstGeom>
          <a:noFill/>
          <a:ln/>
        </p:spPr>
        <p:txBody>
          <a:bodyPr wrap="square" lIns="0" tIns="0" rIns="0" bIns="0" rtlCol="0" anchor="ctr"/>
          <a:lstStyle/>
          <a:p>
            <a:pPr marL="0" indent="0">
              <a:buNone/>
            </a:pPr>
            <a:r>
              <a:rPr lang="en-US" sz="2000" dirty="0">
                <a:solidFill>
                  <a:srgbClr val="2B2B33"/>
                </a:solidFill>
                <a:latin typeface="Calibri" pitchFamily="34" charset="0"/>
                <a:ea typeface="Calibri" pitchFamily="34" charset="-122"/>
                <a:cs typeface="Calibri" pitchFamily="34" charset="-120"/>
              </a:rPr>
              <a:t>Stock calculations may be done separately.</a:t>
            </a:r>
            <a:endParaRPr lang="en-US" sz="2000" dirty="0"/>
          </a:p>
        </p:txBody>
      </p:sp>
      <p:sp>
        <p:nvSpPr>
          <p:cNvPr id="17" name="Shape 11"/>
          <p:cNvSpPr/>
          <p:nvPr/>
        </p:nvSpPr>
        <p:spPr>
          <a:xfrm>
            <a:off x="6172200" y="3886200"/>
            <a:ext cx="5440680" cy="2057400"/>
          </a:xfrm>
          <a:prstGeom prst="roundRect">
            <a:avLst>
              <a:gd name="adj" fmla="val 5333"/>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18" name="Shape 12"/>
          <p:cNvSpPr/>
          <p:nvPr/>
        </p:nvSpPr>
        <p:spPr>
          <a:xfrm>
            <a:off x="6537960" y="4434840"/>
            <a:ext cx="960120" cy="960120"/>
          </a:xfrm>
          <a:prstGeom prst="ellipse">
            <a:avLst/>
          </a:prstGeom>
          <a:solidFill>
            <a:srgbClr val="9B1B30"/>
          </a:solidFill>
          <a:ln w="12700">
            <a:solidFill>
              <a:srgbClr val="9B1B30"/>
            </a:solidFill>
            <a:prstDash val="solid"/>
          </a:ln>
        </p:spPr>
      </p:sp>
      <p:pic>
        <p:nvPicPr>
          <p:cNvPr id="19" name="Image 4" descr="preencoded.png"/>
          <p:cNvPicPr>
            <a:picLocks noChangeAspect="1"/>
          </p:cNvPicPr>
          <p:nvPr/>
        </p:nvPicPr>
        <p:blipFill>
          <a:blip r:embed="rId7"/>
          <a:stretch>
            <a:fillRect/>
          </a:stretch>
        </p:blipFill>
        <p:spPr>
          <a:xfrm>
            <a:off x="6777990" y="4674870"/>
            <a:ext cx="480060" cy="480060"/>
          </a:xfrm>
          <a:prstGeom prst="rect">
            <a:avLst/>
          </a:prstGeom>
        </p:spPr>
      </p:pic>
      <p:sp>
        <p:nvSpPr>
          <p:cNvPr id="20" name="Text 13"/>
          <p:cNvSpPr txBox="1"/>
          <p:nvPr/>
        </p:nvSpPr>
        <p:spPr>
          <a:xfrm>
            <a:off x="7772400" y="3886200"/>
            <a:ext cx="3611880" cy="2057400"/>
          </a:xfrm>
          <a:prstGeom prst="rect">
            <a:avLst/>
          </a:prstGeom>
          <a:noFill/>
          <a:ln/>
        </p:spPr>
        <p:txBody>
          <a:bodyPr wrap="square" lIns="0" tIns="0" rIns="0" bIns="0" rtlCol="0" anchor="ctr"/>
          <a:lstStyle/>
          <a:p>
            <a:pPr marL="0" indent="0">
              <a:buNone/>
            </a:pPr>
            <a:r>
              <a:rPr lang="en-US" sz="2000" dirty="0">
                <a:solidFill>
                  <a:srgbClr val="2B2B33"/>
                </a:solidFill>
                <a:latin typeface="Calibri" pitchFamily="34" charset="0"/>
                <a:ea typeface="Calibri" pitchFamily="34" charset="-122"/>
                <a:cs typeface="Calibri" pitchFamily="34" charset="-120"/>
              </a:rPr>
              <a:t>Low-stock conditions may not be identified instantly.</a:t>
            </a:r>
            <a:endParaRPr lang="en-US" sz="2000" dirty="0"/>
          </a:p>
        </p:txBody>
      </p:sp>
      <p:sp>
        <p:nvSpPr>
          <p:cNvPr id="21" name="Text 14"/>
          <p:cNvSpPr txBox="1"/>
          <p:nvPr/>
        </p:nvSpPr>
        <p:spPr>
          <a:xfrm>
            <a:off x="11247120" y="6355080"/>
            <a:ext cx="548640" cy="274320"/>
          </a:xfrm>
          <a:prstGeom prst="rect">
            <a:avLst/>
          </a:prstGeom>
          <a:noFill/>
          <a:ln/>
        </p:spPr>
        <p:txBody>
          <a:bodyPr wrap="square" lIns="0" tIns="0" rIns="0" bIns="0" rtlCol="0" anchor="ctr"/>
          <a:lstStyle/>
          <a:p>
            <a:pPr marL="0" indent="0" algn="r">
              <a:buNone/>
            </a:pPr>
            <a:r>
              <a:rPr lang="en-US" sz="1200" dirty="0">
                <a:solidFill>
                  <a:srgbClr val="6B5B5F"/>
                </a:solidFill>
                <a:latin typeface="Calibri" pitchFamily="34" charset="0"/>
                <a:ea typeface="Calibri" pitchFamily="34" charset="-122"/>
                <a:cs typeface="Calibri"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name="Slide 5">
    <p:bg>
      <p:bgPr>
        <a:solidFill>
          <a:srgbClr val="FBF3F4"/>
        </a:solidFill>
        <a:effectLst/>
      </p:bgPr>
    </p:bg>
    <p:spTree>
      <p:nvGrpSpPr>
        <p:cNvPr id="1" name=""/>
        <p:cNvGrpSpPr/>
        <p:nvPr/>
      </p:nvGrpSpPr>
      <p:grpSpPr>
        <a:xfrm>
          <a:off x="0" y="0"/>
          <a:ext cx="0" cy="0"/>
          <a:chOff x="0" y="0"/>
          <a:chExt cx="0" cy="0"/>
        </a:xfrm>
      </p:grpSpPr>
      <p:sp>
        <p:nvSpPr>
          <p:cNvPr id="2" name="Shape 0"/>
          <p:cNvSpPr/>
          <p:nvPr/>
        </p:nvSpPr>
        <p:spPr>
          <a:xfrm>
            <a:off x="548640" y="411480"/>
            <a:ext cx="731520" cy="731520"/>
          </a:xfrm>
          <a:prstGeom prst="ellipse">
            <a:avLst/>
          </a:prstGeom>
          <a:solidFill>
            <a:srgbClr val="9B1B30"/>
          </a:solidFill>
          <a:ln w="12700">
            <a:solidFill>
              <a:srgbClr val="9B1B30"/>
            </a:solidFill>
            <a:prstDash val="solid"/>
          </a:ln>
        </p:spPr>
      </p:sp>
      <p:pic>
        <p:nvPicPr>
          <p:cNvPr id="3" name="Image 0" descr="preencoded.png"/>
          <p:cNvPicPr>
            <a:picLocks noChangeAspect="1"/>
          </p:cNvPicPr>
          <p:nvPr/>
        </p:nvPicPr>
        <p:blipFill>
          <a:blip r:embed="rId3"/>
          <a:stretch>
            <a:fillRect/>
          </a:stretch>
        </p:blipFill>
        <p:spPr>
          <a:xfrm>
            <a:off x="731520" y="594360"/>
            <a:ext cx="365760" cy="365760"/>
          </a:xfrm>
          <a:prstGeom prst="rect">
            <a:avLst/>
          </a:prstGeom>
        </p:spPr>
      </p:pic>
      <p:sp>
        <p:nvSpPr>
          <p:cNvPr id="4" name="Text 1"/>
          <p:cNvSpPr txBox="1"/>
          <p:nvPr/>
        </p:nvSpPr>
        <p:spPr>
          <a:xfrm>
            <a:off x="1463040" y="411480"/>
            <a:ext cx="9601200" cy="731520"/>
          </a:xfrm>
          <a:prstGeom prst="rect">
            <a:avLst/>
          </a:prstGeom>
          <a:noFill/>
          <a:ln/>
        </p:spPr>
        <p:txBody>
          <a:bodyPr wrap="square" lIns="0" tIns="0" rIns="0" bIns="0" rtlCol="0" anchor="ctr"/>
          <a:lstStyle/>
          <a:p>
            <a:pPr marL="0" indent="0">
              <a:buNone/>
            </a:pPr>
            <a:r>
              <a:rPr lang="en-US" sz="3600" b="1" dirty="0">
                <a:solidFill>
                  <a:srgbClr val="3A0A14"/>
                </a:solidFill>
                <a:latin typeface="Cambria" pitchFamily="34" charset="0"/>
                <a:ea typeface="Cambria" pitchFamily="34" charset="-122"/>
                <a:cs typeface="Cambria" pitchFamily="34" charset="-120"/>
              </a:rPr>
              <a:t>PROPOSED SYSTEM</a:t>
            </a:r>
            <a:endParaRPr lang="en-US" sz="3600" dirty="0"/>
          </a:p>
        </p:txBody>
      </p:sp>
      <p:sp>
        <p:nvSpPr>
          <p:cNvPr id="5" name="Shape 2"/>
          <p:cNvSpPr/>
          <p:nvPr/>
        </p:nvSpPr>
        <p:spPr>
          <a:xfrm>
            <a:off x="548640" y="1463040"/>
            <a:ext cx="7406640" cy="804672"/>
          </a:xfrm>
          <a:prstGeom prst="roundRect">
            <a:avLst>
              <a:gd name="adj" fmla="val 13636"/>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6" name="Shape 3"/>
          <p:cNvSpPr/>
          <p:nvPr/>
        </p:nvSpPr>
        <p:spPr>
          <a:xfrm>
            <a:off x="731520" y="1591056"/>
            <a:ext cx="548640" cy="548640"/>
          </a:xfrm>
          <a:prstGeom prst="ellipse">
            <a:avLst/>
          </a:prstGeom>
          <a:solidFill>
            <a:srgbClr val="9B1B30"/>
          </a:solidFill>
          <a:ln w="12700">
            <a:solidFill>
              <a:srgbClr val="9B1B30"/>
            </a:solidFill>
            <a:prstDash val="solid"/>
          </a:ln>
        </p:spPr>
      </p:sp>
      <p:sp>
        <p:nvSpPr>
          <p:cNvPr id="7" name="Text 4"/>
          <p:cNvSpPr txBox="1"/>
          <p:nvPr/>
        </p:nvSpPr>
        <p:spPr>
          <a:xfrm>
            <a:off x="731520" y="1591056"/>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8" name="Text 5"/>
          <p:cNvSpPr txBox="1"/>
          <p:nvPr/>
        </p:nvSpPr>
        <p:spPr>
          <a:xfrm>
            <a:off x="1508760" y="1463040"/>
            <a:ext cx="6309360" cy="804672"/>
          </a:xfrm>
          <a:prstGeom prst="rect">
            <a:avLst/>
          </a:prstGeom>
          <a:noFill/>
          <a:ln/>
        </p:spPr>
        <p:txBody>
          <a:bodyPr wrap="square" lIns="0" tIns="0" rIns="0" bIns="0" rtlCol="0" anchor="ctr"/>
          <a:lstStyle/>
          <a:p>
            <a:pPr marL="0" indent="0">
              <a:buNone/>
            </a:pPr>
            <a:r>
              <a:rPr lang="en-US" sz="1600" dirty="0">
                <a:solidFill>
                  <a:srgbClr val="2B2B33"/>
                </a:solidFill>
                <a:latin typeface="Calibri" pitchFamily="34" charset="0"/>
                <a:ea typeface="Calibri" pitchFamily="34" charset="-122"/>
                <a:cs typeface="Calibri" pitchFamily="34" charset="-120"/>
              </a:rPr>
              <a:t>Menu-driven Java application.</a:t>
            </a:r>
            <a:endParaRPr lang="en-US" sz="1600" dirty="0"/>
          </a:p>
        </p:txBody>
      </p:sp>
      <p:sp>
        <p:nvSpPr>
          <p:cNvPr id="9" name="Shape 6"/>
          <p:cNvSpPr/>
          <p:nvPr/>
        </p:nvSpPr>
        <p:spPr>
          <a:xfrm>
            <a:off x="548640" y="2395728"/>
            <a:ext cx="7406640" cy="804672"/>
          </a:xfrm>
          <a:prstGeom prst="roundRect">
            <a:avLst>
              <a:gd name="adj" fmla="val 13636"/>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10" name="Shape 7"/>
          <p:cNvSpPr/>
          <p:nvPr/>
        </p:nvSpPr>
        <p:spPr>
          <a:xfrm>
            <a:off x="731520" y="2523744"/>
            <a:ext cx="548640" cy="548640"/>
          </a:xfrm>
          <a:prstGeom prst="ellipse">
            <a:avLst/>
          </a:prstGeom>
          <a:solidFill>
            <a:srgbClr val="9B1B30"/>
          </a:solidFill>
          <a:ln w="12700">
            <a:solidFill>
              <a:srgbClr val="9B1B30"/>
            </a:solidFill>
            <a:prstDash val="solid"/>
          </a:ln>
        </p:spPr>
      </p:sp>
      <p:sp>
        <p:nvSpPr>
          <p:cNvPr id="11" name="Text 8"/>
          <p:cNvSpPr txBox="1"/>
          <p:nvPr/>
        </p:nvSpPr>
        <p:spPr>
          <a:xfrm>
            <a:off x="731520" y="2523744"/>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9"/>
          <p:cNvSpPr txBox="1"/>
          <p:nvPr/>
        </p:nvSpPr>
        <p:spPr>
          <a:xfrm>
            <a:off x="1508760" y="2395728"/>
            <a:ext cx="6309360" cy="804672"/>
          </a:xfrm>
          <a:prstGeom prst="rect">
            <a:avLst/>
          </a:prstGeom>
          <a:noFill/>
          <a:ln/>
        </p:spPr>
        <p:txBody>
          <a:bodyPr wrap="square" lIns="0" tIns="0" rIns="0" bIns="0" rtlCol="0" anchor="ctr"/>
          <a:lstStyle/>
          <a:p>
            <a:pPr marL="0" indent="0">
              <a:buNone/>
            </a:pPr>
            <a:r>
              <a:rPr lang="en-US" sz="1600" dirty="0">
                <a:solidFill>
                  <a:srgbClr val="2B2B33"/>
                </a:solidFill>
                <a:latin typeface="Calibri" pitchFamily="34" charset="0"/>
                <a:ea typeface="Calibri" pitchFamily="34" charset="-122"/>
                <a:cs typeface="Calibri" pitchFamily="34" charset="-120"/>
              </a:rPr>
              <a:t>Donor details stored and searched systematically.</a:t>
            </a:r>
            <a:endParaRPr lang="en-US" sz="1600" dirty="0"/>
          </a:p>
        </p:txBody>
      </p:sp>
      <p:sp>
        <p:nvSpPr>
          <p:cNvPr id="13" name="Shape 10"/>
          <p:cNvSpPr/>
          <p:nvPr/>
        </p:nvSpPr>
        <p:spPr>
          <a:xfrm>
            <a:off x="548640" y="3328416"/>
            <a:ext cx="7406640" cy="804672"/>
          </a:xfrm>
          <a:prstGeom prst="roundRect">
            <a:avLst>
              <a:gd name="adj" fmla="val 13636"/>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14" name="Shape 11"/>
          <p:cNvSpPr/>
          <p:nvPr/>
        </p:nvSpPr>
        <p:spPr>
          <a:xfrm>
            <a:off x="731520" y="3456432"/>
            <a:ext cx="548640" cy="548640"/>
          </a:xfrm>
          <a:prstGeom prst="ellipse">
            <a:avLst/>
          </a:prstGeom>
          <a:solidFill>
            <a:srgbClr val="9B1B30"/>
          </a:solidFill>
          <a:ln w="12700">
            <a:solidFill>
              <a:srgbClr val="9B1B30"/>
            </a:solidFill>
            <a:prstDash val="solid"/>
          </a:ln>
        </p:spPr>
      </p:sp>
      <p:sp>
        <p:nvSpPr>
          <p:cNvPr id="15" name="Text 12"/>
          <p:cNvSpPr txBox="1"/>
          <p:nvPr/>
        </p:nvSpPr>
        <p:spPr>
          <a:xfrm>
            <a:off x="731520" y="3456432"/>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6" name="Text 13"/>
          <p:cNvSpPr txBox="1"/>
          <p:nvPr/>
        </p:nvSpPr>
        <p:spPr>
          <a:xfrm>
            <a:off x="1508760" y="3328416"/>
            <a:ext cx="6309360" cy="804672"/>
          </a:xfrm>
          <a:prstGeom prst="rect">
            <a:avLst/>
          </a:prstGeom>
          <a:noFill/>
          <a:ln/>
        </p:spPr>
        <p:txBody>
          <a:bodyPr wrap="square" lIns="0" tIns="0" rIns="0" bIns="0" rtlCol="0" anchor="ctr"/>
          <a:lstStyle/>
          <a:p>
            <a:pPr marL="0" indent="0">
              <a:buNone/>
            </a:pPr>
            <a:r>
              <a:rPr lang="en-US" sz="1600" dirty="0">
                <a:solidFill>
                  <a:srgbClr val="2B2B33"/>
                </a:solidFill>
                <a:latin typeface="Calibri" pitchFamily="34" charset="0"/>
                <a:ea typeface="Calibri" pitchFamily="34" charset="-122"/>
                <a:cs typeface="Calibri" pitchFamily="34" charset="-120"/>
              </a:rPr>
              <a:t>Blood units can be tracked by blood group.</a:t>
            </a:r>
            <a:endParaRPr lang="en-US" sz="1600" dirty="0"/>
          </a:p>
        </p:txBody>
      </p:sp>
      <p:sp>
        <p:nvSpPr>
          <p:cNvPr id="17" name="Shape 14"/>
          <p:cNvSpPr/>
          <p:nvPr/>
        </p:nvSpPr>
        <p:spPr>
          <a:xfrm>
            <a:off x="548640" y="4261104"/>
            <a:ext cx="7406640" cy="804672"/>
          </a:xfrm>
          <a:prstGeom prst="roundRect">
            <a:avLst>
              <a:gd name="adj" fmla="val 13636"/>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18" name="Shape 15"/>
          <p:cNvSpPr/>
          <p:nvPr/>
        </p:nvSpPr>
        <p:spPr>
          <a:xfrm>
            <a:off x="731520" y="4389120"/>
            <a:ext cx="548640" cy="548640"/>
          </a:xfrm>
          <a:prstGeom prst="ellipse">
            <a:avLst/>
          </a:prstGeom>
          <a:solidFill>
            <a:srgbClr val="9B1B30"/>
          </a:solidFill>
          <a:ln w="12700">
            <a:solidFill>
              <a:srgbClr val="9B1B30"/>
            </a:solidFill>
            <a:prstDash val="solid"/>
          </a:ln>
        </p:spPr>
      </p:sp>
      <p:sp>
        <p:nvSpPr>
          <p:cNvPr id="19" name="Text 16"/>
          <p:cNvSpPr txBox="1"/>
          <p:nvPr/>
        </p:nvSpPr>
        <p:spPr>
          <a:xfrm>
            <a:off x="731520" y="438912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0" name="Text 17"/>
          <p:cNvSpPr txBox="1"/>
          <p:nvPr/>
        </p:nvSpPr>
        <p:spPr>
          <a:xfrm>
            <a:off x="1508760" y="4261104"/>
            <a:ext cx="6309360" cy="804672"/>
          </a:xfrm>
          <a:prstGeom prst="rect">
            <a:avLst/>
          </a:prstGeom>
          <a:noFill/>
          <a:ln/>
        </p:spPr>
        <p:txBody>
          <a:bodyPr wrap="square" lIns="0" tIns="0" rIns="0" bIns="0" rtlCol="0" anchor="ctr"/>
          <a:lstStyle/>
          <a:p>
            <a:pPr marL="0" indent="0">
              <a:buNone/>
            </a:pPr>
            <a:r>
              <a:rPr lang="en-US" sz="1600" dirty="0">
                <a:solidFill>
                  <a:srgbClr val="2B2B33"/>
                </a:solidFill>
                <a:latin typeface="Calibri" pitchFamily="34" charset="0"/>
                <a:ea typeface="Calibri" pitchFamily="34" charset="-122"/>
                <a:cs typeface="Calibri" pitchFamily="34" charset="-120"/>
              </a:rPr>
              <a:t>if-else checks compatibility; switch provides menu choices.</a:t>
            </a:r>
            <a:endParaRPr lang="en-US" sz="1600" dirty="0"/>
          </a:p>
        </p:txBody>
      </p:sp>
      <p:sp>
        <p:nvSpPr>
          <p:cNvPr id="21" name="Shape 18"/>
          <p:cNvSpPr/>
          <p:nvPr/>
        </p:nvSpPr>
        <p:spPr>
          <a:xfrm>
            <a:off x="548640" y="5193792"/>
            <a:ext cx="7406640" cy="804672"/>
          </a:xfrm>
          <a:prstGeom prst="roundRect">
            <a:avLst>
              <a:gd name="adj" fmla="val 13636"/>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22" name="Shape 19"/>
          <p:cNvSpPr/>
          <p:nvPr/>
        </p:nvSpPr>
        <p:spPr>
          <a:xfrm>
            <a:off x="731520" y="5321808"/>
            <a:ext cx="548640" cy="548640"/>
          </a:xfrm>
          <a:prstGeom prst="ellipse">
            <a:avLst/>
          </a:prstGeom>
          <a:solidFill>
            <a:srgbClr val="9B1B30"/>
          </a:solidFill>
          <a:ln w="12700">
            <a:solidFill>
              <a:srgbClr val="9B1B30"/>
            </a:solidFill>
            <a:prstDash val="solid"/>
          </a:ln>
        </p:spPr>
      </p:sp>
      <p:sp>
        <p:nvSpPr>
          <p:cNvPr id="23" name="Text 20"/>
          <p:cNvSpPr txBox="1"/>
          <p:nvPr/>
        </p:nvSpPr>
        <p:spPr>
          <a:xfrm>
            <a:off x="731520" y="5321808"/>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4" name="Text 21"/>
          <p:cNvSpPr txBox="1"/>
          <p:nvPr/>
        </p:nvSpPr>
        <p:spPr>
          <a:xfrm>
            <a:off x="1508760" y="5193792"/>
            <a:ext cx="6309360" cy="804672"/>
          </a:xfrm>
          <a:prstGeom prst="rect">
            <a:avLst/>
          </a:prstGeom>
          <a:noFill/>
          <a:ln/>
        </p:spPr>
        <p:txBody>
          <a:bodyPr wrap="square" lIns="0" tIns="0" rIns="0" bIns="0" rtlCol="0" anchor="ctr"/>
          <a:lstStyle/>
          <a:p>
            <a:pPr marL="0" indent="0">
              <a:buNone/>
            </a:pPr>
            <a:r>
              <a:rPr lang="en-US" sz="1600" dirty="0">
                <a:solidFill>
                  <a:srgbClr val="2B2B33"/>
                </a:solidFill>
                <a:latin typeface="Calibri" pitchFamily="34" charset="0"/>
                <a:ea typeface="Calibri" pitchFamily="34" charset="-122"/>
                <a:cs typeface="Calibri" pitchFamily="34" charset="-120"/>
              </a:rPr>
              <a:t>for loop searches donor list; while loop monitors stock operations.</a:t>
            </a:r>
            <a:endParaRPr lang="en-US" sz="1600" dirty="0"/>
          </a:p>
        </p:txBody>
      </p:sp>
      <p:sp>
        <p:nvSpPr>
          <p:cNvPr id="25" name="Shape 22"/>
          <p:cNvSpPr/>
          <p:nvPr/>
        </p:nvSpPr>
        <p:spPr>
          <a:xfrm>
            <a:off x="8321040" y="1463040"/>
            <a:ext cx="3291840" cy="4535424"/>
          </a:xfrm>
          <a:prstGeom prst="roundRect">
            <a:avLst>
              <a:gd name="adj" fmla="val 3333"/>
            </a:avLst>
          </a:prstGeom>
          <a:solidFill>
            <a:srgbClr val="9B1B30"/>
          </a:solidFill>
          <a:ln w="12700">
            <a:solidFill>
              <a:srgbClr val="9B1B30"/>
            </a:solidFill>
            <a:prstDash val="solid"/>
          </a:ln>
        </p:spPr>
      </p:sp>
      <p:sp>
        <p:nvSpPr>
          <p:cNvPr id="26" name="Shape 23"/>
          <p:cNvSpPr/>
          <p:nvPr/>
        </p:nvSpPr>
        <p:spPr>
          <a:xfrm>
            <a:off x="8732520" y="2011680"/>
            <a:ext cx="2468880" cy="2468880"/>
          </a:xfrm>
          <a:prstGeom prst="ellipse">
            <a:avLst/>
          </a:prstGeom>
          <a:solidFill>
            <a:srgbClr val="FFFFFF">
              <a:alpha val="12000"/>
            </a:srgbClr>
          </a:solidFill>
          <a:ln w="12700">
            <a:solidFill>
              <a:srgbClr val="FFFFFF">
                <a:alpha val="30000"/>
              </a:srgbClr>
            </a:solidFill>
            <a:prstDash val="solid"/>
          </a:ln>
        </p:spPr>
      </p:sp>
      <p:pic>
        <p:nvPicPr>
          <p:cNvPr id="27" name="Image 1" descr="preencoded.png"/>
          <p:cNvPicPr>
            <a:picLocks noChangeAspect="1"/>
          </p:cNvPicPr>
          <p:nvPr/>
        </p:nvPicPr>
        <p:blipFill>
          <a:blip r:embed="rId4"/>
          <a:stretch>
            <a:fillRect/>
          </a:stretch>
        </p:blipFill>
        <p:spPr>
          <a:xfrm>
            <a:off x="9189720" y="2468880"/>
            <a:ext cx="1554480" cy="1554480"/>
          </a:xfrm>
          <a:prstGeom prst="rect">
            <a:avLst/>
          </a:prstGeom>
        </p:spPr>
      </p:pic>
      <p:sp>
        <p:nvSpPr>
          <p:cNvPr id="28" name="Text 24"/>
          <p:cNvSpPr txBox="1"/>
          <p:nvPr/>
        </p:nvSpPr>
        <p:spPr>
          <a:xfrm>
            <a:off x="8321040" y="4663440"/>
            <a:ext cx="3291840" cy="91440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Menu-driven</a:t>
            </a:r>
            <a:endParaRPr lang="en-US" sz="2000" dirty="0"/>
          </a:p>
          <a:p>
            <a:pPr marL="0" indent="0" algn="ctr">
              <a:buNone/>
            </a:pPr>
            <a:r>
              <a:rPr lang="en-US" sz="2000" b="1" dirty="0">
                <a:solidFill>
                  <a:srgbClr val="FFFFFF"/>
                </a:solidFill>
                <a:latin typeface="Cambria" pitchFamily="34" charset="0"/>
                <a:ea typeface="Cambria" pitchFamily="34" charset="-122"/>
                <a:cs typeface="Cambria" pitchFamily="34" charset="-120"/>
              </a:rPr>
              <a:t>Java application</a:t>
            </a:r>
            <a:endParaRPr lang="en-US" sz="2000" dirty="0"/>
          </a:p>
        </p:txBody>
      </p:sp>
      <p:sp>
        <p:nvSpPr>
          <p:cNvPr id="29" name="Text 25"/>
          <p:cNvSpPr txBox="1"/>
          <p:nvPr/>
        </p:nvSpPr>
        <p:spPr>
          <a:xfrm>
            <a:off x="11247120" y="6355080"/>
            <a:ext cx="548640" cy="274320"/>
          </a:xfrm>
          <a:prstGeom prst="rect">
            <a:avLst/>
          </a:prstGeom>
          <a:noFill/>
          <a:ln/>
        </p:spPr>
        <p:txBody>
          <a:bodyPr wrap="square" lIns="0" tIns="0" rIns="0" bIns="0" rtlCol="0" anchor="ctr"/>
          <a:lstStyle/>
          <a:p>
            <a:pPr marL="0" indent="0" algn="r">
              <a:buNone/>
            </a:pPr>
            <a:r>
              <a:rPr lang="en-US" sz="1200" dirty="0">
                <a:solidFill>
                  <a:srgbClr val="6B5B5F"/>
                </a:solidFill>
                <a:latin typeface="Calibri" pitchFamily="34" charset="0"/>
                <a:ea typeface="Calibri" pitchFamily="34" charset="-122"/>
                <a:cs typeface="Calibri"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name="Slide 6">
    <p:bg>
      <p:bgPr>
        <a:solidFill>
          <a:srgbClr val="FBF3F4"/>
        </a:solidFill>
        <a:effectLst/>
      </p:bgPr>
    </p:bg>
    <p:spTree>
      <p:nvGrpSpPr>
        <p:cNvPr id="1" name=""/>
        <p:cNvGrpSpPr/>
        <p:nvPr/>
      </p:nvGrpSpPr>
      <p:grpSpPr>
        <a:xfrm>
          <a:off x="0" y="0"/>
          <a:ext cx="0" cy="0"/>
          <a:chOff x="0" y="0"/>
          <a:chExt cx="0" cy="0"/>
        </a:xfrm>
      </p:grpSpPr>
      <p:sp>
        <p:nvSpPr>
          <p:cNvPr id="2" name="Shape 0"/>
          <p:cNvSpPr/>
          <p:nvPr/>
        </p:nvSpPr>
        <p:spPr>
          <a:xfrm>
            <a:off x="548640" y="411480"/>
            <a:ext cx="731520" cy="731520"/>
          </a:xfrm>
          <a:prstGeom prst="ellipse">
            <a:avLst/>
          </a:prstGeom>
          <a:solidFill>
            <a:srgbClr val="9B1B30"/>
          </a:solidFill>
          <a:ln w="12700">
            <a:solidFill>
              <a:srgbClr val="9B1B30"/>
            </a:solidFill>
            <a:prstDash val="solid"/>
          </a:ln>
        </p:spPr>
      </p:sp>
      <p:pic>
        <p:nvPicPr>
          <p:cNvPr id="3" name="Image 0" descr="preencoded.png"/>
          <p:cNvPicPr>
            <a:picLocks noChangeAspect="1"/>
          </p:cNvPicPr>
          <p:nvPr/>
        </p:nvPicPr>
        <p:blipFill>
          <a:blip r:embed="rId3"/>
          <a:stretch>
            <a:fillRect/>
          </a:stretch>
        </p:blipFill>
        <p:spPr>
          <a:xfrm>
            <a:off x="731520" y="594360"/>
            <a:ext cx="365760" cy="365760"/>
          </a:xfrm>
          <a:prstGeom prst="rect">
            <a:avLst/>
          </a:prstGeom>
        </p:spPr>
      </p:pic>
      <p:sp>
        <p:nvSpPr>
          <p:cNvPr id="4" name="Text 1"/>
          <p:cNvSpPr txBox="1"/>
          <p:nvPr/>
        </p:nvSpPr>
        <p:spPr>
          <a:xfrm>
            <a:off x="1463040" y="411480"/>
            <a:ext cx="9601200" cy="731520"/>
          </a:xfrm>
          <a:prstGeom prst="rect">
            <a:avLst/>
          </a:prstGeom>
          <a:noFill/>
          <a:ln/>
        </p:spPr>
        <p:txBody>
          <a:bodyPr wrap="square" lIns="0" tIns="0" rIns="0" bIns="0" rtlCol="0" anchor="ctr"/>
          <a:lstStyle/>
          <a:p>
            <a:pPr marL="0" indent="0">
              <a:buNone/>
            </a:pPr>
            <a:r>
              <a:rPr lang="en-US" sz="3600" b="1" dirty="0">
                <a:solidFill>
                  <a:srgbClr val="3A0A14"/>
                </a:solidFill>
                <a:latin typeface="Cambria" pitchFamily="34" charset="0"/>
                <a:ea typeface="Cambria" pitchFamily="34" charset="-122"/>
                <a:cs typeface="Cambria" pitchFamily="34" charset="-120"/>
              </a:rPr>
              <a:t>RAPTOR FLOWCHART</a:t>
            </a:r>
            <a:endParaRPr lang="en-US" sz="3600" dirty="0"/>
          </a:p>
        </p:txBody>
      </p:sp>
      <p:sp>
        <p:nvSpPr>
          <p:cNvPr id="5" name="Shape 2"/>
          <p:cNvSpPr/>
          <p:nvPr/>
        </p:nvSpPr>
        <p:spPr>
          <a:xfrm>
            <a:off x="822960" y="1965960"/>
            <a:ext cx="1645920" cy="731520"/>
          </a:xfrm>
          <a:prstGeom prst="ellipse">
            <a:avLst/>
          </a:prstGeom>
          <a:solidFill>
            <a:srgbClr val="9B1B30"/>
          </a:solidFill>
          <a:ln w="12700">
            <a:solidFill>
              <a:srgbClr val="9B1B30"/>
            </a:solidFill>
            <a:prstDash val="solid"/>
          </a:ln>
        </p:spPr>
      </p:sp>
      <p:sp>
        <p:nvSpPr>
          <p:cNvPr id="6" name="Text 3"/>
          <p:cNvSpPr txBox="1"/>
          <p:nvPr/>
        </p:nvSpPr>
        <p:spPr>
          <a:xfrm>
            <a:off x="822960" y="1965960"/>
            <a:ext cx="1645920" cy="7315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START</a:t>
            </a:r>
            <a:endParaRPr lang="en-US" sz="1600" dirty="0"/>
          </a:p>
        </p:txBody>
      </p:sp>
      <p:sp>
        <p:nvSpPr>
          <p:cNvPr id="7" name="Shape 4"/>
          <p:cNvSpPr/>
          <p:nvPr/>
        </p:nvSpPr>
        <p:spPr>
          <a:xfrm>
            <a:off x="2880360" y="1965960"/>
            <a:ext cx="2377440" cy="731520"/>
          </a:xfrm>
          <a:prstGeom prst="parallelogram">
            <a:avLst/>
          </a:prstGeom>
          <a:solidFill>
            <a:srgbClr val="F8E1E5"/>
          </a:solidFill>
          <a:ln w="25400">
            <a:solidFill>
              <a:srgbClr val="9B1B30"/>
            </a:solidFill>
            <a:prstDash val="solid"/>
          </a:ln>
        </p:spPr>
      </p:sp>
      <p:sp>
        <p:nvSpPr>
          <p:cNvPr id="8" name="Text 5"/>
          <p:cNvSpPr txBox="1"/>
          <p:nvPr/>
        </p:nvSpPr>
        <p:spPr>
          <a:xfrm>
            <a:off x="2880360" y="1965960"/>
            <a:ext cx="2377440" cy="731520"/>
          </a:xfrm>
          <a:prstGeom prst="rect">
            <a:avLst/>
          </a:prstGeom>
          <a:noFill/>
          <a:ln/>
        </p:spPr>
        <p:txBody>
          <a:bodyPr wrap="square" lIns="0" tIns="0" rIns="0" bIns="0" rtlCol="0" anchor="ctr"/>
          <a:lstStyle/>
          <a:p>
            <a:pPr marL="0" indent="0" algn="ctr">
              <a:buNone/>
            </a:pPr>
            <a:r>
              <a:rPr lang="en-US" sz="1500" b="1" dirty="0">
                <a:solidFill>
                  <a:srgbClr val="3A0A14"/>
                </a:solidFill>
                <a:latin typeface="Calibri" pitchFamily="34" charset="0"/>
                <a:ea typeface="Calibri" pitchFamily="34" charset="-122"/>
                <a:cs typeface="Calibri" pitchFamily="34" charset="-120"/>
              </a:rPr>
              <a:t>Display Menu</a:t>
            </a:r>
            <a:endParaRPr lang="en-US" sz="1500" dirty="0"/>
          </a:p>
        </p:txBody>
      </p:sp>
      <p:sp>
        <p:nvSpPr>
          <p:cNvPr id="9" name="Shape 6"/>
          <p:cNvSpPr/>
          <p:nvPr/>
        </p:nvSpPr>
        <p:spPr>
          <a:xfrm>
            <a:off x="5669280" y="1965960"/>
            <a:ext cx="2377440" cy="731520"/>
          </a:xfrm>
          <a:prstGeom prst="parallelogram">
            <a:avLst/>
          </a:prstGeom>
          <a:solidFill>
            <a:srgbClr val="F8E1E5"/>
          </a:solidFill>
          <a:ln w="25400">
            <a:solidFill>
              <a:srgbClr val="9B1B30"/>
            </a:solidFill>
            <a:prstDash val="solid"/>
          </a:ln>
        </p:spPr>
      </p:sp>
      <p:sp>
        <p:nvSpPr>
          <p:cNvPr id="10" name="Text 7"/>
          <p:cNvSpPr txBox="1"/>
          <p:nvPr/>
        </p:nvSpPr>
        <p:spPr>
          <a:xfrm>
            <a:off x="5669280" y="1965960"/>
            <a:ext cx="2377440" cy="731520"/>
          </a:xfrm>
          <a:prstGeom prst="rect">
            <a:avLst/>
          </a:prstGeom>
          <a:noFill/>
          <a:ln/>
        </p:spPr>
        <p:txBody>
          <a:bodyPr wrap="square" lIns="0" tIns="0" rIns="0" bIns="0" rtlCol="0" anchor="ctr"/>
          <a:lstStyle/>
          <a:p>
            <a:pPr marL="0" indent="0" algn="ctr">
              <a:buNone/>
            </a:pPr>
            <a:r>
              <a:rPr lang="en-US" sz="1500" b="1" dirty="0">
                <a:solidFill>
                  <a:srgbClr val="3A0A14"/>
                </a:solidFill>
                <a:latin typeface="Calibri" pitchFamily="34" charset="0"/>
                <a:ea typeface="Calibri" pitchFamily="34" charset="-122"/>
                <a:cs typeface="Calibri" pitchFamily="34" charset="-120"/>
              </a:rPr>
              <a:t>Input choice</a:t>
            </a:r>
            <a:endParaRPr lang="en-US" sz="1500" dirty="0"/>
          </a:p>
        </p:txBody>
      </p:sp>
      <p:sp>
        <p:nvSpPr>
          <p:cNvPr id="11" name="Shape 8"/>
          <p:cNvSpPr/>
          <p:nvPr/>
        </p:nvSpPr>
        <p:spPr>
          <a:xfrm>
            <a:off x="8732520" y="1737360"/>
            <a:ext cx="2651760" cy="1188720"/>
          </a:xfrm>
          <a:prstGeom prst="diamond">
            <a:avLst/>
          </a:prstGeom>
          <a:solidFill>
            <a:srgbClr val="EFB5BF"/>
          </a:solidFill>
          <a:ln w="25400">
            <a:solidFill>
              <a:srgbClr val="9B1B30"/>
            </a:solidFill>
            <a:prstDash val="solid"/>
          </a:ln>
        </p:spPr>
      </p:sp>
      <p:sp>
        <p:nvSpPr>
          <p:cNvPr id="12" name="Text 9"/>
          <p:cNvSpPr txBox="1"/>
          <p:nvPr/>
        </p:nvSpPr>
        <p:spPr>
          <a:xfrm>
            <a:off x="8732520" y="1737360"/>
            <a:ext cx="2651760" cy="1188720"/>
          </a:xfrm>
          <a:prstGeom prst="rect">
            <a:avLst/>
          </a:prstGeom>
          <a:noFill/>
          <a:ln/>
        </p:spPr>
        <p:txBody>
          <a:bodyPr wrap="square" lIns="0" tIns="0" rIns="0" bIns="0" rtlCol="0" anchor="ctr"/>
          <a:lstStyle/>
          <a:p>
            <a:pPr marL="0" indent="0" algn="ctr">
              <a:buNone/>
            </a:pPr>
            <a:r>
              <a:rPr lang="en-US" sz="1600" b="1" dirty="0">
                <a:solidFill>
                  <a:srgbClr val="3A0A14"/>
                </a:solidFill>
                <a:latin typeface="Calibri" pitchFamily="34" charset="0"/>
                <a:ea typeface="Calibri" pitchFamily="34" charset="-122"/>
                <a:cs typeface="Calibri" pitchFamily="34" charset="-120"/>
              </a:rPr>
              <a:t>choice?</a:t>
            </a:r>
            <a:endParaRPr lang="en-US" sz="1600" dirty="0"/>
          </a:p>
        </p:txBody>
      </p:sp>
      <p:sp>
        <p:nvSpPr>
          <p:cNvPr id="13" name="Shape 10"/>
          <p:cNvSpPr/>
          <p:nvPr/>
        </p:nvSpPr>
        <p:spPr>
          <a:xfrm>
            <a:off x="2468880" y="2331720"/>
            <a:ext cx="411480" cy="0"/>
          </a:xfrm>
          <a:prstGeom prst="line">
            <a:avLst/>
          </a:prstGeom>
          <a:noFill/>
          <a:ln w="25400">
            <a:solidFill>
              <a:srgbClr val="2B2B33"/>
            </a:solidFill>
            <a:prstDash val="solid"/>
            <a:tailEnd type="triangle"/>
          </a:ln>
        </p:spPr>
      </p:sp>
      <p:sp>
        <p:nvSpPr>
          <p:cNvPr id="14" name="Shape 11"/>
          <p:cNvSpPr/>
          <p:nvPr/>
        </p:nvSpPr>
        <p:spPr>
          <a:xfrm>
            <a:off x="5257800" y="2331720"/>
            <a:ext cx="411480" cy="0"/>
          </a:xfrm>
          <a:prstGeom prst="line">
            <a:avLst/>
          </a:prstGeom>
          <a:noFill/>
          <a:ln w="25400">
            <a:solidFill>
              <a:srgbClr val="2B2B33"/>
            </a:solidFill>
            <a:prstDash val="solid"/>
            <a:tailEnd type="triangle"/>
          </a:ln>
        </p:spPr>
      </p:sp>
      <p:sp>
        <p:nvSpPr>
          <p:cNvPr id="15" name="Shape 12"/>
          <p:cNvSpPr/>
          <p:nvPr/>
        </p:nvSpPr>
        <p:spPr>
          <a:xfrm>
            <a:off x="8046720" y="2331720"/>
            <a:ext cx="685800" cy="0"/>
          </a:xfrm>
          <a:prstGeom prst="line">
            <a:avLst/>
          </a:prstGeom>
          <a:noFill/>
          <a:ln w="25400">
            <a:solidFill>
              <a:srgbClr val="2B2B33"/>
            </a:solidFill>
            <a:prstDash val="solid"/>
            <a:tailEnd type="triangle"/>
          </a:ln>
        </p:spPr>
      </p:sp>
      <p:sp>
        <p:nvSpPr>
          <p:cNvPr id="16" name="Shape 13"/>
          <p:cNvSpPr/>
          <p:nvPr/>
        </p:nvSpPr>
        <p:spPr>
          <a:xfrm>
            <a:off x="10058400" y="2926080"/>
            <a:ext cx="0" cy="914400"/>
          </a:xfrm>
          <a:prstGeom prst="line">
            <a:avLst/>
          </a:prstGeom>
          <a:noFill/>
          <a:ln w="25400">
            <a:solidFill>
              <a:srgbClr val="2B2B33"/>
            </a:solidFill>
            <a:prstDash val="solid"/>
          </a:ln>
        </p:spPr>
      </p:sp>
      <p:sp>
        <p:nvSpPr>
          <p:cNvPr id="17" name="Shape 14"/>
          <p:cNvSpPr/>
          <p:nvPr/>
        </p:nvSpPr>
        <p:spPr>
          <a:xfrm>
            <a:off x="1965960" y="3337560"/>
            <a:ext cx="8092440" cy="0"/>
          </a:xfrm>
          <a:prstGeom prst="line">
            <a:avLst/>
          </a:prstGeom>
          <a:noFill/>
          <a:ln w="25400">
            <a:solidFill>
              <a:srgbClr val="2B2B33"/>
            </a:solidFill>
            <a:prstDash val="solid"/>
          </a:ln>
        </p:spPr>
      </p:sp>
      <p:sp>
        <p:nvSpPr>
          <p:cNvPr id="18" name="Shape 15"/>
          <p:cNvSpPr/>
          <p:nvPr/>
        </p:nvSpPr>
        <p:spPr>
          <a:xfrm>
            <a:off x="1965960" y="3337560"/>
            <a:ext cx="0" cy="502920"/>
          </a:xfrm>
          <a:prstGeom prst="line">
            <a:avLst/>
          </a:prstGeom>
          <a:noFill/>
          <a:ln w="25400">
            <a:solidFill>
              <a:srgbClr val="2B2B33"/>
            </a:solidFill>
            <a:prstDash val="solid"/>
            <a:tailEnd type="triangle"/>
          </a:ln>
        </p:spPr>
      </p:sp>
      <p:sp>
        <p:nvSpPr>
          <p:cNvPr id="19" name="Text 16"/>
          <p:cNvSpPr txBox="1"/>
          <p:nvPr/>
        </p:nvSpPr>
        <p:spPr>
          <a:xfrm>
            <a:off x="2057400" y="3383280"/>
            <a:ext cx="365760" cy="320040"/>
          </a:xfrm>
          <a:prstGeom prst="rect">
            <a:avLst/>
          </a:prstGeom>
          <a:noFill/>
          <a:ln/>
        </p:spPr>
        <p:txBody>
          <a:bodyPr wrap="square" lIns="0" tIns="0" rIns="0" bIns="0" rtlCol="0" anchor="ctr"/>
          <a:lstStyle/>
          <a:p>
            <a:pPr marL="0" indent="0">
              <a:buNone/>
            </a:pPr>
            <a:r>
              <a:rPr lang="en-US" sz="1600" b="1" dirty="0">
                <a:solidFill>
                  <a:srgbClr val="9B1B30"/>
                </a:solidFill>
                <a:latin typeface="Calibri" pitchFamily="34" charset="0"/>
                <a:ea typeface="Calibri" pitchFamily="34" charset="-122"/>
                <a:cs typeface="Calibri" pitchFamily="34" charset="-120"/>
              </a:rPr>
              <a:t>1</a:t>
            </a:r>
            <a:endParaRPr lang="en-US" sz="1600" dirty="0"/>
          </a:p>
        </p:txBody>
      </p:sp>
      <p:sp>
        <p:nvSpPr>
          <p:cNvPr id="20" name="Shape 17"/>
          <p:cNvSpPr/>
          <p:nvPr/>
        </p:nvSpPr>
        <p:spPr>
          <a:xfrm>
            <a:off x="822960" y="3840480"/>
            <a:ext cx="2286000" cy="868680"/>
          </a:xfrm>
          <a:prstGeom prst="rect">
            <a:avLst/>
          </a:prstGeom>
          <a:solidFill>
            <a:srgbClr val="FFFFFF"/>
          </a:solidFill>
          <a:ln w="25400">
            <a:solidFill>
              <a:srgbClr val="9B1B30"/>
            </a:solidFill>
            <a:prstDash val="solid"/>
          </a:ln>
        </p:spPr>
      </p:sp>
      <p:sp>
        <p:nvSpPr>
          <p:cNvPr id="21" name="Shape 18"/>
          <p:cNvSpPr/>
          <p:nvPr/>
        </p:nvSpPr>
        <p:spPr>
          <a:xfrm>
            <a:off x="950976" y="3840480"/>
            <a:ext cx="0" cy="868680"/>
          </a:xfrm>
          <a:prstGeom prst="line">
            <a:avLst/>
          </a:prstGeom>
          <a:noFill/>
          <a:ln w="25400">
            <a:solidFill>
              <a:srgbClr val="2B2B33"/>
            </a:solidFill>
            <a:prstDash val="solid"/>
          </a:ln>
        </p:spPr>
      </p:sp>
      <p:sp>
        <p:nvSpPr>
          <p:cNvPr id="22" name="Shape 19"/>
          <p:cNvSpPr/>
          <p:nvPr/>
        </p:nvSpPr>
        <p:spPr>
          <a:xfrm>
            <a:off x="2980944" y="3840480"/>
            <a:ext cx="0" cy="868680"/>
          </a:xfrm>
          <a:prstGeom prst="line">
            <a:avLst/>
          </a:prstGeom>
          <a:noFill/>
          <a:ln w="25400">
            <a:solidFill>
              <a:srgbClr val="2B2B33"/>
            </a:solidFill>
            <a:prstDash val="solid"/>
          </a:ln>
        </p:spPr>
      </p:sp>
      <p:sp>
        <p:nvSpPr>
          <p:cNvPr id="23" name="Text 20"/>
          <p:cNvSpPr txBox="1"/>
          <p:nvPr/>
        </p:nvSpPr>
        <p:spPr>
          <a:xfrm>
            <a:off x="1005840" y="3840480"/>
            <a:ext cx="1920240" cy="868680"/>
          </a:xfrm>
          <a:prstGeom prst="rect">
            <a:avLst/>
          </a:prstGeom>
          <a:noFill/>
          <a:ln/>
        </p:spPr>
        <p:txBody>
          <a:bodyPr wrap="square" lIns="0" tIns="0" rIns="0" bIns="0" rtlCol="0" anchor="ctr"/>
          <a:lstStyle/>
          <a:p>
            <a:pPr marL="0" indent="0" algn="ctr">
              <a:buNone/>
            </a:pPr>
            <a:r>
              <a:rPr lang="en-US" sz="1500" b="1" dirty="0">
                <a:solidFill>
                  <a:srgbClr val="3A0A14"/>
                </a:solidFill>
                <a:latin typeface="Calibri" pitchFamily="34" charset="0"/>
                <a:ea typeface="Calibri" pitchFamily="34" charset="-122"/>
                <a:cs typeface="Calibri" pitchFamily="34" charset="-120"/>
              </a:rPr>
              <a:t>Register Donor</a:t>
            </a:r>
            <a:endParaRPr lang="en-US" sz="1500" dirty="0"/>
          </a:p>
        </p:txBody>
      </p:sp>
      <p:sp>
        <p:nvSpPr>
          <p:cNvPr id="24" name="Shape 21"/>
          <p:cNvSpPr/>
          <p:nvPr/>
        </p:nvSpPr>
        <p:spPr>
          <a:xfrm>
            <a:off x="4663440" y="3337560"/>
            <a:ext cx="0" cy="502920"/>
          </a:xfrm>
          <a:prstGeom prst="line">
            <a:avLst/>
          </a:prstGeom>
          <a:noFill/>
          <a:ln w="25400">
            <a:solidFill>
              <a:srgbClr val="2B2B33"/>
            </a:solidFill>
            <a:prstDash val="solid"/>
            <a:tailEnd type="triangle"/>
          </a:ln>
        </p:spPr>
      </p:sp>
      <p:sp>
        <p:nvSpPr>
          <p:cNvPr id="25" name="Text 22"/>
          <p:cNvSpPr txBox="1"/>
          <p:nvPr/>
        </p:nvSpPr>
        <p:spPr>
          <a:xfrm>
            <a:off x="4754880" y="3383280"/>
            <a:ext cx="365760" cy="320040"/>
          </a:xfrm>
          <a:prstGeom prst="rect">
            <a:avLst/>
          </a:prstGeom>
          <a:noFill/>
          <a:ln/>
        </p:spPr>
        <p:txBody>
          <a:bodyPr wrap="square" lIns="0" tIns="0" rIns="0" bIns="0" rtlCol="0" anchor="ctr"/>
          <a:lstStyle/>
          <a:p>
            <a:pPr marL="0" indent="0">
              <a:buNone/>
            </a:pPr>
            <a:r>
              <a:rPr lang="en-US" sz="1600" b="1" dirty="0">
                <a:solidFill>
                  <a:srgbClr val="9B1B30"/>
                </a:solidFill>
                <a:latin typeface="Calibri" pitchFamily="34" charset="0"/>
                <a:ea typeface="Calibri" pitchFamily="34" charset="-122"/>
                <a:cs typeface="Calibri" pitchFamily="34" charset="-120"/>
              </a:rPr>
              <a:t>2</a:t>
            </a:r>
            <a:endParaRPr lang="en-US" sz="1600" dirty="0"/>
          </a:p>
        </p:txBody>
      </p:sp>
      <p:sp>
        <p:nvSpPr>
          <p:cNvPr id="26" name="Shape 23"/>
          <p:cNvSpPr/>
          <p:nvPr/>
        </p:nvSpPr>
        <p:spPr>
          <a:xfrm>
            <a:off x="3520440" y="3840480"/>
            <a:ext cx="2286000" cy="868680"/>
          </a:xfrm>
          <a:prstGeom prst="rect">
            <a:avLst/>
          </a:prstGeom>
          <a:solidFill>
            <a:srgbClr val="FFFFFF"/>
          </a:solidFill>
          <a:ln w="25400">
            <a:solidFill>
              <a:srgbClr val="9B1B30"/>
            </a:solidFill>
            <a:prstDash val="solid"/>
          </a:ln>
        </p:spPr>
      </p:sp>
      <p:sp>
        <p:nvSpPr>
          <p:cNvPr id="27" name="Shape 24"/>
          <p:cNvSpPr/>
          <p:nvPr/>
        </p:nvSpPr>
        <p:spPr>
          <a:xfrm>
            <a:off x="3648456" y="3840480"/>
            <a:ext cx="0" cy="868680"/>
          </a:xfrm>
          <a:prstGeom prst="line">
            <a:avLst/>
          </a:prstGeom>
          <a:noFill/>
          <a:ln w="25400">
            <a:solidFill>
              <a:srgbClr val="2B2B33"/>
            </a:solidFill>
            <a:prstDash val="solid"/>
          </a:ln>
        </p:spPr>
      </p:sp>
      <p:sp>
        <p:nvSpPr>
          <p:cNvPr id="28" name="Shape 25"/>
          <p:cNvSpPr/>
          <p:nvPr/>
        </p:nvSpPr>
        <p:spPr>
          <a:xfrm>
            <a:off x="5678424" y="3840480"/>
            <a:ext cx="0" cy="868680"/>
          </a:xfrm>
          <a:prstGeom prst="line">
            <a:avLst/>
          </a:prstGeom>
          <a:noFill/>
          <a:ln w="25400">
            <a:solidFill>
              <a:srgbClr val="2B2B33"/>
            </a:solidFill>
            <a:prstDash val="solid"/>
          </a:ln>
        </p:spPr>
      </p:sp>
      <p:sp>
        <p:nvSpPr>
          <p:cNvPr id="29" name="Text 26"/>
          <p:cNvSpPr txBox="1"/>
          <p:nvPr/>
        </p:nvSpPr>
        <p:spPr>
          <a:xfrm>
            <a:off x="3703320" y="3840480"/>
            <a:ext cx="1920240" cy="868680"/>
          </a:xfrm>
          <a:prstGeom prst="rect">
            <a:avLst/>
          </a:prstGeom>
          <a:noFill/>
          <a:ln/>
        </p:spPr>
        <p:txBody>
          <a:bodyPr wrap="square" lIns="0" tIns="0" rIns="0" bIns="0" rtlCol="0" anchor="ctr"/>
          <a:lstStyle/>
          <a:p>
            <a:pPr marL="0" indent="0" algn="ctr">
              <a:buNone/>
            </a:pPr>
            <a:r>
              <a:rPr lang="en-US" sz="1500" b="1" dirty="0">
                <a:solidFill>
                  <a:srgbClr val="3A0A14"/>
                </a:solidFill>
                <a:latin typeface="Calibri" pitchFamily="34" charset="0"/>
                <a:ea typeface="Calibri" pitchFamily="34" charset="-122"/>
                <a:cs typeface="Calibri" pitchFamily="34" charset="-120"/>
              </a:rPr>
              <a:t>Check Availability</a:t>
            </a:r>
            <a:endParaRPr lang="en-US" sz="1500" dirty="0"/>
          </a:p>
        </p:txBody>
      </p:sp>
      <p:sp>
        <p:nvSpPr>
          <p:cNvPr id="30" name="Shape 27"/>
          <p:cNvSpPr/>
          <p:nvPr/>
        </p:nvSpPr>
        <p:spPr>
          <a:xfrm>
            <a:off x="7360920" y="3337560"/>
            <a:ext cx="0" cy="502920"/>
          </a:xfrm>
          <a:prstGeom prst="line">
            <a:avLst/>
          </a:prstGeom>
          <a:noFill/>
          <a:ln w="25400">
            <a:solidFill>
              <a:srgbClr val="2B2B33"/>
            </a:solidFill>
            <a:prstDash val="solid"/>
            <a:tailEnd type="triangle"/>
          </a:ln>
        </p:spPr>
      </p:sp>
      <p:sp>
        <p:nvSpPr>
          <p:cNvPr id="31" name="Text 28"/>
          <p:cNvSpPr txBox="1"/>
          <p:nvPr/>
        </p:nvSpPr>
        <p:spPr>
          <a:xfrm>
            <a:off x="7452360" y="3383280"/>
            <a:ext cx="365760" cy="320040"/>
          </a:xfrm>
          <a:prstGeom prst="rect">
            <a:avLst/>
          </a:prstGeom>
          <a:noFill/>
          <a:ln/>
        </p:spPr>
        <p:txBody>
          <a:bodyPr wrap="square" lIns="0" tIns="0" rIns="0" bIns="0" rtlCol="0" anchor="ctr"/>
          <a:lstStyle/>
          <a:p>
            <a:pPr marL="0" indent="0">
              <a:buNone/>
            </a:pPr>
            <a:r>
              <a:rPr lang="en-US" sz="1600" b="1" dirty="0">
                <a:solidFill>
                  <a:srgbClr val="9B1B30"/>
                </a:solidFill>
                <a:latin typeface="Calibri" pitchFamily="34" charset="0"/>
                <a:ea typeface="Calibri" pitchFamily="34" charset="-122"/>
                <a:cs typeface="Calibri" pitchFamily="34" charset="-120"/>
              </a:rPr>
              <a:t>3</a:t>
            </a:r>
            <a:endParaRPr lang="en-US" sz="1600" dirty="0"/>
          </a:p>
        </p:txBody>
      </p:sp>
      <p:sp>
        <p:nvSpPr>
          <p:cNvPr id="32" name="Shape 29"/>
          <p:cNvSpPr/>
          <p:nvPr/>
        </p:nvSpPr>
        <p:spPr>
          <a:xfrm>
            <a:off x="6217920" y="3840480"/>
            <a:ext cx="2286000" cy="868680"/>
          </a:xfrm>
          <a:prstGeom prst="rect">
            <a:avLst/>
          </a:prstGeom>
          <a:solidFill>
            <a:srgbClr val="FFFFFF"/>
          </a:solidFill>
          <a:ln w="25400">
            <a:solidFill>
              <a:srgbClr val="9B1B30"/>
            </a:solidFill>
            <a:prstDash val="solid"/>
          </a:ln>
        </p:spPr>
      </p:sp>
      <p:sp>
        <p:nvSpPr>
          <p:cNvPr id="33" name="Shape 30"/>
          <p:cNvSpPr/>
          <p:nvPr/>
        </p:nvSpPr>
        <p:spPr>
          <a:xfrm>
            <a:off x="6345936" y="3840480"/>
            <a:ext cx="0" cy="868680"/>
          </a:xfrm>
          <a:prstGeom prst="line">
            <a:avLst/>
          </a:prstGeom>
          <a:noFill/>
          <a:ln w="25400">
            <a:solidFill>
              <a:srgbClr val="2B2B33"/>
            </a:solidFill>
            <a:prstDash val="solid"/>
          </a:ln>
        </p:spPr>
      </p:sp>
      <p:sp>
        <p:nvSpPr>
          <p:cNvPr id="34" name="Shape 31"/>
          <p:cNvSpPr/>
          <p:nvPr/>
        </p:nvSpPr>
        <p:spPr>
          <a:xfrm>
            <a:off x="8375904" y="3840480"/>
            <a:ext cx="0" cy="868680"/>
          </a:xfrm>
          <a:prstGeom prst="line">
            <a:avLst/>
          </a:prstGeom>
          <a:noFill/>
          <a:ln w="25400">
            <a:solidFill>
              <a:srgbClr val="2B2B33"/>
            </a:solidFill>
            <a:prstDash val="solid"/>
          </a:ln>
        </p:spPr>
      </p:sp>
      <p:sp>
        <p:nvSpPr>
          <p:cNvPr id="35" name="Text 32"/>
          <p:cNvSpPr txBox="1"/>
          <p:nvPr/>
        </p:nvSpPr>
        <p:spPr>
          <a:xfrm>
            <a:off x="6400800" y="3840480"/>
            <a:ext cx="1920240" cy="868680"/>
          </a:xfrm>
          <a:prstGeom prst="rect">
            <a:avLst/>
          </a:prstGeom>
          <a:noFill/>
          <a:ln/>
        </p:spPr>
        <p:txBody>
          <a:bodyPr wrap="square" lIns="0" tIns="0" rIns="0" bIns="0" rtlCol="0" anchor="ctr"/>
          <a:lstStyle/>
          <a:p>
            <a:pPr marL="0" indent="0" algn="ctr">
              <a:buNone/>
            </a:pPr>
            <a:r>
              <a:rPr lang="en-US" sz="1500" b="1" dirty="0">
                <a:solidFill>
                  <a:srgbClr val="3A0A14"/>
                </a:solidFill>
                <a:latin typeface="Calibri" pitchFamily="34" charset="0"/>
                <a:ea typeface="Calibri" pitchFamily="34" charset="-122"/>
                <a:cs typeface="Calibri" pitchFamily="34" charset="-120"/>
              </a:rPr>
              <a:t>Display Stock</a:t>
            </a:r>
            <a:endParaRPr lang="en-US" sz="1500" dirty="0"/>
          </a:p>
        </p:txBody>
      </p:sp>
      <p:sp>
        <p:nvSpPr>
          <p:cNvPr id="36" name="Shape 33"/>
          <p:cNvSpPr/>
          <p:nvPr/>
        </p:nvSpPr>
        <p:spPr>
          <a:xfrm>
            <a:off x="10058400" y="3337560"/>
            <a:ext cx="0" cy="502920"/>
          </a:xfrm>
          <a:prstGeom prst="line">
            <a:avLst/>
          </a:prstGeom>
          <a:noFill/>
          <a:ln w="25400">
            <a:solidFill>
              <a:srgbClr val="2B2B33"/>
            </a:solidFill>
            <a:prstDash val="solid"/>
            <a:tailEnd type="triangle"/>
          </a:ln>
        </p:spPr>
      </p:sp>
      <p:sp>
        <p:nvSpPr>
          <p:cNvPr id="37" name="Text 34"/>
          <p:cNvSpPr txBox="1"/>
          <p:nvPr/>
        </p:nvSpPr>
        <p:spPr>
          <a:xfrm>
            <a:off x="10149840" y="3383280"/>
            <a:ext cx="365760" cy="320040"/>
          </a:xfrm>
          <a:prstGeom prst="rect">
            <a:avLst/>
          </a:prstGeom>
          <a:noFill/>
          <a:ln/>
        </p:spPr>
        <p:txBody>
          <a:bodyPr wrap="square" lIns="0" tIns="0" rIns="0" bIns="0" rtlCol="0" anchor="ctr"/>
          <a:lstStyle/>
          <a:p>
            <a:pPr marL="0" indent="0">
              <a:buNone/>
            </a:pPr>
            <a:r>
              <a:rPr lang="en-US" sz="1600" b="1" dirty="0">
                <a:solidFill>
                  <a:srgbClr val="9B1B30"/>
                </a:solidFill>
                <a:latin typeface="Calibri" pitchFamily="34" charset="0"/>
                <a:ea typeface="Calibri" pitchFamily="34" charset="-122"/>
                <a:cs typeface="Calibri" pitchFamily="34" charset="-120"/>
              </a:rPr>
              <a:t>4</a:t>
            </a:r>
            <a:endParaRPr lang="en-US" sz="1600" dirty="0"/>
          </a:p>
        </p:txBody>
      </p:sp>
      <p:sp>
        <p:nvSpPr>
          <p:cNvPr id="38" name="Shape 35"/>
          <p:cNvSpPr/>
          <p:nvPr/>
        </p:nvSpPr>
        <p:spPr>
          <a:xfrm>
            <a:off x="8915400" y="3840480"/>
            <a:ext cx="2286000" cy="868680"/>
          </a:xfrm>
          <a:prstGeom prst="rect">
            <a:avLst/>
          </a:prstGeom>
          <a:solidFill>
            <a:srgbClr val="F8E1E5"/>
          </a:solidFill>
          <a:ln w="25400">
            <a:solidFill>
              <a:srgbClr val="9B1B30"/>
            </a:solidFill>
            <a:prstDash val="solid"/>
          </a:ln>
        </p:spPr>
      </p:sp>
      <p:sp>
        <p:nvSpPr>
          <p:cNvPr id="39" name="Text 36"/>
          <p:cNvSpPr txBox="1"/>
          <p:nvPr/>
        </p:nvSpPr>
        <p:spPr>
          <a:xfrm>
            <a:off x="9098280" y="3840480"/>
            <a:ext cx="1920240" cy="868680"/>
          </a:xfrm>
          <a:prstGeom prst="rect">
            <a:avLst/>
          </a:prstGeom>
          <a:noFill/>
          <a:ln/>
        </p:spPr>
        <p:txBody>
          <a:bodyPr wrap="square" lIns="0" tIns="0" rIns="0" bIns="0" rtlCol="0" anchor="ctr"/>
          <a:lstStyle/>
          <a:p>
            <a:pPr marL="0" indent="0" algn="ctr">
              <a:buNone/>
            </a:pPr>
            <a:r>
              <a:rPr lang="en-US" sz="1500" b="1" dirty="0">
                <a:solidFill>
                  <a:srgbClr val="3A0A14"/>
                </a:solidFill>
                <a:latin typeface="Calibri" pitchFamily="34" charset="0"/>
                <a:ea typeface="Calibri" pitchFamily="34" charset="-122"/>
                <a:cs typeface="Calibri" pitchFamily="34" charset="-120"/>
              </a:rPr>
              <a:t>Exit</a:t>
            </a:r>
            <a:endParaRPr lang="en-US" sz="1500" dirty="0"/>
          </a:p>
        </p:txBody>
      </p:sp>
      <p:sp>
        <p:nvSpPr>
          <p:cNvPr id="40" name="Shape 37"/>
          <p:cNvSpPr/>
          <p:nvPr/>
        </p:nvSpPr>
        <p:spPr>
          <a:xfrm>
            <a:off x="9235440" y="5257800"/>
            <a:ext cx="1645920" cy="731520"/>
          </a:xfrm>
          <a:prstGeom prst="ellipse">
            <a:avLst/>
          </a:prstGeom>
          <a:solidFill>
            <a:srgbClr val="9B1B30"/>
          </a:solidFill>
          <a:ln w="12700">
            <a:solidFill>
              <a:srgbClr val="9B1B30"/>
            </a:solidFill>
            <a:prstDash val="solid"/>
          </a:ln>
        </p:spPr>
      </p:sp>
      <p:sp>
        <p:nvSpPr>
          <p:cNvPr id="41" name="Text 38"/>
          <p:cNvSpPr txBox="1"/>
          <p:nvPr/>
        </p:nvSpPr>
        <p:spPr>
          <a:xfrm>
            <a:off x="9235440" y="5257800"/>
            <a:ext cx="1645920" cy="7315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END</a:t>
            </a:r>
            <a:endParaRPr lang="en-US" sz="1600" dirty="0"/>
          </a:p>
        </p:txBody>
      </p:sp>
      <p:sp>
        <p:nvSpPr>
          <p:cNvPr id="42" name="Shape 39"/>
          <p:cNvSpPr/>
          <p:nvPr/>
        </p:nvSpPr>
        <p:spPr>
          <a:xfrm>
            <a:off x="10058400" y="4709160"/>
            <a:ext cx="0" cy="548640"/>
          </a:xfrm>
          <a:prstGeom prst="line">
            <a:avLst/>
          </a:prstGeom>
          <a:noFill/>
          <a:ln w="25400">
            <a:solidFill>
              <a:srgbClr val="2B2B33"/>
            </a:solidFill>
            <a:prstDash val="solid"/>
            <a:tailEnd type="triangle"/>
          </a:ln>
        </p:spPr>
      </p:sp>
      <p:sp>
        <p:nvSpPr>
          <p:cNvPr id="43" name="Shape 40"/>
          <p:cNvSpPr/>
          <p:nvPr/>
        </p:nvSpPr>
        <p:spPr>
          <a:xfrm>
            <a:off x="1965960" y="4709160"/>
            <a:ext cx="0" cy="548640"/>
          </a:xfrm>
          <a:prstGeom prst="line">
            <a:avLst/>
          </a:prstGeom>
          <a:noFill/>
          <a:ln w="25400">
            <a:solidFill>
              <a:srgbClr val="2B2B33"/>
            </a:solidFill>
            <a:prstDash val="solid"/>
          </a:ln>
        </p:spPr>
      </p:sp>
      <p:sp>
        <p:nvSpPr>
          <p:cNvPr id="44" name="Shape 41"/>
          <p:cNvSpPr/>
          <p:nvPr/>
        </p:nvSpPr>
        <p:spPr>
          <a:xfrm>
            <a:off x="4663440" y="4709160"/>
            <a:ext cx="0" cy="548640"/>
          </a:xfrm>
          <a:prstGeom prst="line">
            <a:avLst/>
          </a:prstGeom>
          <a:noFill/>
          <a:ln w="25400">
            <a:solidFill>
              <a:srgbClr val="2B2B33"/>
            </a:solidFill>
            <a:prstDash val="solid"/>
          </a:ln>
        </p:spPr>
      </p:sp>
      <p:sp>
        <p:nvSpPr>
          <p:cNvPr id="45" name="Shape 42"/>
          <p:cNvSpPr/>
          <p:nvPr/>
        </p:nvSpPr>
        <p:spPr>
          <a:xfrm>
            <a:off x="7360920" y="4709160"/>
            <a:ext cx="0" cy="548640"/>
          </a:xfrm>
          <a:prstGeom prst="line">
            <a:avLst/>
          </a:prstGeom>
          <a:noFill/>
          <a:ln w="25400">
            <a:solidFill>
              <a:srgbClr val="2B2B33"/>
            </a:solidFill>
            <a:prstDash val="solid"/>
          </a:ln>
        </p:spPr>
      </p:sp>
      <p:sp>
        <p:nvSpPr>
          <p:cNvPr id="46" name="Shape 43"/>
          <p:cNvSpPr/>
          <p:nvPr/>
        </p:nvSpPr>
        <p:spPr>
          <a:xfrm>
            <a:off x="1965960" y="5257800"/>
            <a:ext cx="5394960" cy="0"/>
          </a:xfrm>
          <a:prstGeom prst="line">
            <a:avLst/>
          </a:prstGeom>
          <a:noFill/>
          <a:ln w="25400">
            <a:solidFill>
              <a:srgbClr val="2B2B33"/>
            </a:solidFill>
            <a:prstDash val="solid"/>
          </a:ln>
        </p:spPr>
      </p:sp>
      <p:sp>
        <p:nvSpPr>
          <p:cNvPr id="47" name="Shape 44"/>
          <p:cNvSpPr/>
          <p:nvPr/>
        </p:nvSpPr>
        <p:spPr>
          <a:xfrm flipV="1">
            <a:off x="3314700" y="2697480"/>
            <a:ext cx="0" cy="2560320"/>
          </a:xfrm>
          <a:prstGeom prst="line">
            <a:avLst/>
          </a:prstGeom>
          <a:noFill/>
          <a:ln w="25400">
            <a:solidFill>
              <a:srgbClr val="2B2B33"/>
            </a:solidFill>
            <a:prstDash val="solid"/>
            <a:tailEnd type="triangle"/>
          </a:ln>
        </p:spPr>
      </p:sp>
      <p:sp>
        <p:nvSpPr>
          <p:cNvPr id="48" name="Text 45"/>
          <p:cNvSpPr txBox="1"/>
          <p:nvPr/>
        </p:nvSpPr>
        <p:spPr>
          <a:xfrm>
            <a:off x="3474720" y="5349240"/>
            <a:ext cx="4114800" cy="320040"/>
          </a:xfrm>
          <a:prstGeom prst="rect">
            <a:avLst/>
          </a:prstGeom>
          <a:noFill/>
          <a:ln/>
        </p:spPr>
        <p:txBody>
          <a:bodyPr wrap="square" lIns="0" tIns="0" rIns="0" bIns="0" rtlCol="0" anchor="ctr"/>
          <a:lstStyle/>
          <a:p>
            <a:pPr marL="0" indent="0">
              <a:buNone/>
            </a:pPr>
            <a:r>
              <a:rPr lang="en-US" sz="1500" b="1" dirty="0">
                <a:solidFill>
                  <a:srgbClr val="9B1B30"/>
                </a:solidFill>
                <a:latin typeface="Calibri" pitchFamily="34" charset="0"/>
                <a:ea typeface="Calibri" pitchFamily="34" charset="-122"/>
                <a:cs typeface="Calibri" pitchFamily="34" charset="-120"/>
              </a:rPr>
              <a:t>while (choice != 4): repeat</a:t>
            </a:r>
            <a:endParaRPr lang="en-US" sz="1500" dirty="0"/>
          </a:p>
        </p:txBody>
      </p:sp>
      <p:sp>
        <p:nvSpPr>
          <p:cNvPr id="49" name="Text 46"/>
          <p:cNvSpPr txBox="1"/>
          <p:nvPr/>
        </p:nvSpPr>
        <p:spPr>
          <a:xfrm>
            <a:off x="822960" y="5852160"/>
            <a:ext cx="8229600" cy="274320"/>
          </a:xfrm>
          <a:prstGeom prst="rect">
            <a:avLst/>
          </a:prstGeom>
          <a:noFill/>
          <a:ln/>
        </p:spPr>
        <p:txBody>
          <a:bodyPr wrap="square" lIns="0" tIns="0" rIns="0" bIns="0" rtlCol="0" anchor="ctr"/>
          <a:lstStyle/>
          <a:p>
            <a:pPr marL="0" indent="0">
              <a:buNone/>
            </a:pPr>
            <a:r>
              <a:rPr lang="en-US" sz="1200" dirty="0">
                <a:solidFill>
                  <a:srgbClr val="6B5B5F"/>
                </a:solidFill>
                <a:latin typeface="Calibri" pitchFamily="34" charset="0"/>
                <a:ea typeface="Calibri" pitchFamily="34" charset="-122"/>
                <a:cs typeface="Calibri" pitchFamily="34" charset="-120"/>
              </a:rPr>
              <a:t>Symbols: oval = Start/End, parallelogram = Input/Output, bar box = Call, diamond = Selection</a:t>
            </a:r>
            <a:endParaRPr lang="en-US" sz="1200" dirty="0"/>
          </a:p>
        </p:txBody>
      </p:sp>
      <p:sp>
        <p:nvSpPr>
          <p:cNvPr id="50" name="Text 47"/>
          <p:cNvSpPr txBox="1"/>
          <p:nvPr/>
        </p:nvSpPr>
        <p:spPr>
          <a:xfrm>
            <a:off x="11247120" y="6355080"/>
            <a:ext cx="548640" cy="274320"/>
          </a:xfrm>
          <a:prstGeom prst="rect">
            <a:avLst/>
          </a:prstGeom>
          <a:noFill/>
          <a:ln/>
        </p:spPr>
        <p:txBody>
          <a:bodyPr wrap="square" lIns="0" tIns="0" rIns="0" bIns="0" rtlCol="0" anchor="ctr"/>
          <a:lstStyle/>
          <a:p>
            <a:pPr marL="0" indent="0" algn="r">
              <a:buNone/>
            </a:pPr>
            <a:r>
              <a:rPr lang="en-US" sz="1200" dirty="0">
                <a:solidFill>
                  <a:srgbClr val="6B5B5F"/>
                </a:solidFill>
                <a:latin typeface="Calibri" pitchFamily="34" charset="0"/>
                <a:ea typeface="Calibri" pitchFamily="34" charset="-122"/>
                <a:cs typeface="Calibri"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name="Slide 7">
    <p:bg>
      <p:bgPr>
        <a:solidFill>
          <a:srgbClr val="FBF3F4"/>
        </a:solidFill>
        <a:effectLst/>
      </p:bgPr>
    </p:bg>
    <p:spTree>
      <p:nvGrpSpPr>
        <p:cNvPr id="1" name=""/>
        <p:cNvGrpSpPr/>
        <p:nvPr/>
      </p:nvGrpSpPr>
      <p:grpSpPr>
        <a:xfrm>
          <a:off x="0" y="0"/>
          <a:ext cx="0" cy="0"/>
          <a:chOff x="0" y="0"/>
          <a:chExt cx="0" cy="0"/>
        </a:xfrm>
      </p:grpSpPr>
      <p:sp>
        <p:nvSpPr>
          <p:cNvPr id="2" name="Shape 0"/>
          <p:cNvSpPr/>
          <p:nvPr/>
        </p:nvSpPr>
        <p:spPr>
          <a:xfrm>
            <a:off x="548640" y="411480"/>
            <a:ext cx="731520" cy="731520"/>
          </a:xfrm>
          <a:prstGeom prst="ellipse">
            <a:avLst/>
          </a:prstGeom>
          <a:solidFill>
            <a:srgbClr val="9B1B30"/>
          </a:solidFill>
          <a:ln w="12700">
            <a:solidFill>
              <a:srgbClr val="9B1B30"/>
            </a:solidFill>
            <a:prstDash val="solid"/>
          </a:ln>
        </p:spPr>
      </p:sp>
      <p:pic>
        <p:nvPicPr>
          <p:cNvPr id="3" name="Image 0" descr="preencoded.png"/>
          <p:cNvPicPr>
            <a:picLocks noChangeAspect="1"/>
          </p:cNvPicPr>
          <p:nvPr/>
        </p:nvPicPr>
        <p:blipFill>
          <a:blip r:embed="rId3"/>
          <a:stretch>
            <a:fillRect/>
          </a:stretch>
        </p:blipFill>
        <p:spPr>
          <a:xfrm>
            <a:off x="731520" y="594360"/>
            <a:ext cx="365760" cy="365760"/>
          </a:xfrm>
          <a:prstGeom prst="rect">
            <a:avLst/>
          </a:prstGeom>
        </p:spPr>
      </p:pic>
      <p:sp>
        <p:nvSpPr>
          <p:cNvPr id="4" name="Text 1"/>
          <p:cNvSpPr txBox="1"/>
          <p:nvPr/>
        </p:nvSpPr>
        <p:spPr>
          <a:xfrm>
            <a:off x="1463040" y="411480"/>
            <a:ext cx="9601200" cy="731520"/>
          </a:xfrm>
          <a:prstGeom prst="rect">
            <a:avLst/>
          </a:prstGeom>
          <a:noFill/>
          <a:ln/>
        </p:spPr>
        <p:txBody>
          <a:bodyPr wrap="square" lIns="0" tIns="0" rIns="0" bIns="0" rtlCol="0" anchor="ctr"/>
          <a:lstStyle/>
          <a:p>
            <a:pPr marL="0" indent="0">
              <a:buNone/>
            </a:pPr>
            <a:r>
              <a:rPr lang="en-US" sz="3600" b="1" dirty="0">
                <a:solidFill>
                  <a:srgbClr val="3A0A14"/>
                </a:solidFill>
                <a:latin typeface="Cambria" pitchFamily="34" charset="0"/>
                <a:ea typeface="Cambria" pitchFamily="34" charset="-122"/>
                <a:cs typeface="Cambria" pitchFamily="34" charset="-120"/>
              </a:rPr>
              <a:t>KEYWORDS</a:t>
            </a:r>
            <a:endParaRPr lang="en-US" sz="3600" dirty="0"/>
          </a:p>
        </p:txBody>
      </p:sp>
      <p:sp>
        <p:nvSpPr>
          <p:cNvPr id="5" name="Shape 2"/>
          <p:cNvSpPr/>
          <p:nvPr/>
        </p:nvSpPr>
        <p:spPr>
          <a:xfrm>
            <a:off x="548640" y="1508760"/>
            <a:ext cx="2624328" cy="1417320"/>
          </a:xfrm>
          <a:prstGeom prst="roundRect">
            <a:avLst>
              <a:gd name="adj" fmla="val 7742"/>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6" name="Text 3"/>
          <p:cNvSpPr txBox="1"/>
          <p:nvPr/>
        </p:nvSpPr>
        <p:spPr>
          <a:xfrm>
            <a:off x="731520" y="1618488"/>
            <a:ext cx="2286000" cy="457200"/>
          </a:xfrm>
          <a:prstGeom prst="rect">
            <a:avLst/>
          </a:prstGeom>
          <a:noFill/>
          <a:ln/>
        </p:spPr>
        <p:txBody>
          <a:bodyPr wrap="square" lIns="0" tIns="0" rIns="0" bIns="0" rtlCol="0" anchor="ctr"/>
          <a:lstStyle/>
          <a:p>
            <a:pPr marL="0" indent="0">
              <a:buNone/>
            </a:pPr>
            <a:r>
              <a:rPr lang="en-US" sz="2000" b="1" dirty="0">
                <a:solidFill>
                  <a:srgbClr val="9B1B30"/>
                </a:solidFill>
                <a:latin typeface="Consolas" pitchFamily="34" charset="0"/>
                <a:ea typeface="Consolas" pitchFamily="34" charset="-122"/>
                <a:cs typeface="Consolas" pitchFamily="34" charset="-120"/>
              </a:rPr>
              <a:t>class</a:t>
            </a:r>
            <a:endParaRPr lang="en-US" sz="2000" dirty="0"/>
          </a:p>
        </p:txBody>
      </p:sp>
      <p:sp>
        <p:nvSpPr>
          <p:cNvPr id="7" name="Text 4"/>
          <p:cNvSpPr txBox="1"/>
          <p:nvPr/>
        </p:nvSpPr>
        <p:spPr>
          <a:xfrm>
            <a:off x="731520" y="2130552"/>
            <a:ext cx="2286000" cy="685800"/>
          </a:xfrm>
          <a:prstGeom prst="rect">
            <a:avLst/>
          </a:prstGeom>
          <a:noFill/>
          <a:ln/>
        </p:spPr>
        <p:txBody>
          <a:bodyPr wrap="square" lIns="0" tIns="0" rIns="0" bIns="0" rtlCol="0" anchor="t"/>
          <a:lstStyle/>
          <a:p>
            <a:pPr marL="0" indent="0">
              <a:buNone/>
            </a:pPr>
            <a:r>
              <a:rPr lang="en-US" sz="1300" dirty="0">
                <a:solidFill>
                  <a:srgbClr val="2B2B33"/>
                </a:solidFill>
                <a:latin typeface="Calibri" pitchFamily="34" charset="0"/>
                <a:ea typeface="Calibri" pitchFamily="34" charset="-122"/>
                <a:cs typeface="Calibri" pitchFamily="34" charset="-120"/>
              </a:rPr>
              <a:t>Creates Donor, BloodBank and BloodStock classes</a:t>
            </a:r>
            <a:endParaRPr lang="en-US" sz="1300" dirty="0"/>
          </a:p>
        </p:txBody>
      </p:sp>
      <p:sp>
        <p:nvSpPr>
          <p:cNvPr id="8" name="Shape 5"/>
          <p:cNvSpPr/>
          <p:nvPr/>
        </p:nvSpPr>
        <p:spPr>
          <a:xfrm>
            <a:off x="3355848" y="1508760"/>
            <a:ext cx="2624328" cy="1417320"/>
          </a:xfrm>
          <a:prstGeom prst="roundRect">
            <a:avLst>
              <a:gd name="adj" fmla="val 7742"/>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9" name="Text 6"/>
          <p:cNvSpPr txBox="1"/>
          <p:nvPr/>
        </p:nvSpPr>
        <p:spPr>
          <a:xfrm>
            <a:off x="3538728" y="1618488"/>
            <a:ext cx="2286000" cy="457200"/>
          </a:xfrm>
          <a:prstGeom prst="rect">
            <a:avLst/>
          </a:prstGeom>
          <a:noFill/>
          <a:ln/>
        </p:spPr>
        <p:txBody>
          <a:bodyPr wrap="square" lIns="0" tIns="0" rIns="0" bIns="0" rtlCol="0" anchor="ctr"/>
          <a:lstStyle/>
          <a:p>
            <a:pPr marL="0" indent="0">
              <a:buNone/>
            </a:pPr>
            <a:r>
              <a:rPr lang="en-US" sz="2000" b="1" dirty="0">
                <a:solidFill>
                  <a:srgbClr val="9B1B30"/>
                </a:solidFill>
                <a:latin typeface="Consolas" pitchFamily="34" charset="0"/>
                <a:ea typeface="Consolas" pitchFamily="34" charset="-122"/>
                <a:cs typeface="Consolas" pitchFamily="34" charset="-120"/>
              </a:rPr>
              <a:t>public</a:t>
            </a:r>
            <a:endParaRPr lang="en-US" sz="2000" dirty="0"/>
          </a:p>
        </p:txBody>
      </p:sp>
      <p:sp>
        <p:nvSpPr>
          <p:cNvPr id="10" name="Text 7"/>
          <p:cNvSpPr txBox="1"/>
          <p:nvPr/>
        </p:nvSpPr>
        <p:spPr>
          <a:xfrm>
            <a:off x="3538728" y="2130552"/>
            <a:ext cx="2286000" cy="685800"/>
          </a:xfrm>
          <a:prstGeom prst="rect">
            <a:avLst/>
          </a:prstGeom>
          <a:noFill/>
          <a:ln/>
        </p:spPr>
        <p:txBody>
          <a:bodyPr wrap="square" lIns="0" tIns="0" rIns="0" bIns="0" rtlCol="0" anchor="t"/>
          <a:lstStyle/>
          <a:p>
            <a:pPr marL="0" indent="0">
              <a:buNone/>
            </a:pPr>
            <a:r>
              <a:rPr lang="en-US" sz="1300" dirty="0">
                <a:solidFill>
                  <a:srgbClr val="2B2B33"/>
                </a:solidFill>
                <a:latin typeface="Calibri" pitchFamily="34" charset="0"/>
                <a:ea typeface="Calibri" pitchFamily="34" charset="-122"/>
                <a:cs typeface="Calibri" pitchFamily="34" charset="-120"/>
              </a:rPr>
              <a:t>Makes classes and methods accessible</a:t>
            </a:r>
            <a:endParaRPr lang="en-US" sz="1300" dirty="0"/>
          </a:p>
        </p:txBody>
      </p:sp>
      <p:sp>
        <p:nvSpPr>
          <p:cNvPr id="11" name="Shape 8"/>
          <p:cNvSpPr/>
          <p:nvPr/>
        </p:nvSpPr>
        <p:spPr>
          <a:xfrm>
            <a:off x="6163056" y="1508760"/>
            <a:ext cx="2624328" cy="1417320"/>
          </a:xfrm>
          <a:prstGeom prst="roundRect">
            <a:avLst>
              <a:gd name="adj" fmla="val 7742"/>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12" name="Text 9"/>
          <p:cNvSpPr txBox="1"/>
          <p:nvPr/>
        </p:nvSpPr>
        <p:spPr>
          <a:xfrm>
            <a:off x="6345936" y="1618488"/>
            <a:ext cx="2286000" cy="457200"/>
          </a:xfrm>
          <a:prstGeom prst="rect">
            <a:avLst/>
          </a:prstGeom>
          <a:noFill/>
          <a:ln/>
        </p:spPr>
        <p:txBody>
          <a:bodyPr wrap="square" lIns="0" tIns="0" rIns="0" bIns="0" rtlCol="0" anchor="ctr"/>
          <a:lstStyle/>
          <a:p>
            <a:pPr marL="0" indent="0">
              <a:buNone/>
            </a:pPr>
            <a:r>
              <a:rPr lang="en-US" sz="2000" b="1" dirty="0">
                <a:solidFill>
                  <a:srgbClr val="9B1B30"/>
                </a:solidFill>
                <a:latin typeface="Consolas" pitchFamily="34" charset="0"/>
                <a:ea typeface="Consolas" pitchFamily="34" charset="-122"/>
                <a:cs typeface="Consolas" pitchFamily="34" charset="-120"/>
              </a:rPr>
              <a:t>static</a:t>
            </a:r>
            <a:endParaRPr lang="en-US" sz="2000" dirty="0"/>
          </a:p>
        </p:txBody>
      </p:sp>
      <p:sp>
        <p:nvSpPr>
          <p:cNvPr id="13" name="Text 10"/>
          <p:cNvSpPr txBox="1"/>
          <p:nvPr/>
        </p:nvSpPr>
        <p:spPr>
          <a:xfrm>
            <a:off x="6345936" y="2130552"/>
            <a:ext cx="2286000" cy="685800"/>
          </a:xfrm>
          <a:prstGeom prst="rect">
            <a:avLst/>
          </a:prstGeom>
          <a:noFill/>
          <a:ln/>
        </p:spPr>
        <p:txBody>
          <a:bodyPr wrap="square" lIns="0" tIns="0" rIns="0" bIns="0" rtlCol="0" anchor="t"/>
          <a:lstStyle/>
          <a:p>
            <a:pPr marL="0" indent="0">
              <a:buNone/>
            </a:pPr>
            <a:r>
              <a:rPr lang="en-US" sz="1300" dirty="0">
                <a:solidFill>
                  <a:srgbClr val="2B2B33"/>
                </a:solidFill>
                <a:latin typeface="Calibri" pitchFamily="34" charset="0"/>
                <a:ea typeface="Calibri" pitchFamily="34" charset="-122"/>
                <a:cs typeface="Calibri" pitchFamily="34" charset="-120"/>
              </a:rPr>
              <a:t>Use methods or variables without an object</a:t>
            </a:r>
            <a:endParaRPr lang="en-US" sz="1300" dirty="0"/>
          </a:p>
        </p:txBody>
      </p:sp>
      <p:sp>
        <p:nvSpPr>
          <p:cNvPr id="14" name="Shape 11"/>
          <p:cNvSpPr/>
          <p:nvPr/>
        </p:nvSpPr>
        <p:spPr>
          <a:xfrm>
            <a:off x="8970264" y="1508760"/>
            <a:ext cx="2624328" cy="1417320"/>
          </a:xfrm>
          <a:prstGeom prst="roundRect">
            <a:avLst>
              <a:gd name="adj" fmla="val 7742"/>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15" name="Text 12"/>
          <p:cNvSpPr txBox="1"/>
          <p:nvPr/>
        </p:nvSpPr>
        <p:spPr>
          <a:xfrm>
            <a:off x="9153144" y="1618488"/>
            <a:ext cx="2286000" cy="457200"/>
          </a:xfrm>
          <a:prstGeom prst="rect">
            <a:avLst/>
          </a:prstGeom>
          <a:noFill/>
          <a:ln/>
        </p:spPr>
        <p:txBody>
          <a:bodyPr wrap="square" lIns="0" tIns="0" rIns="0" bIns="0" rtlCol="0" anchor="ctr"/>
          <a:lstStyle/>
          <a:p>
            <a:pPr marL="0" indent="0">
              <a:buNone/>
            </a:pPr>
            <a:r>
              <a:rPr lang="en-US" sz="2000" b="1" dirty="0">
                <a:solidFill>
                  <a:srgbClr val="9B1B30"/>
                </a:solidFill>
                <a:latin typeface="Consolas" pitchFamily="34" charset="0"/>
                <a:ea typeface="Consolas" pitchFamily="34" charset="-122"/>
                <a:cs typeface="Consolas" pitchFamily="34" charset="-120"/>
              </a:rPr>
              <a:t>void</a:t>
            </a:r>
            <a:endParaRPr lang="en-US" sz="2000" dirty="0"/>
          </a:p>
        </p:txBody>
      </p:sp>
      <p:sp>
        <p:nvSpPr>
          <p:cNvPr id="16" name="Text 13"/>
          <p:cNvSpPr txBox="1"/>
          <p:nvPr/>
        </p:nvSpPr>
        <p:spPr>
          <a:xfrm>
            <a:off x="9153144" y="2130552"/>
            <a:ext cx="2286000" cy="685800"/>
          </a:xfrm>
          <a:prstGeom prst="rect">
            <a:avLst/>
          </a:prstGeom>
          <a:noFill/>
          <a:ln/>
        </p:spPr>
        <p:txBody>
          <a:bodyPr wrap="square" lIns="0" tIns="0" rIns="0" bIns="0" rtlCol="0" anchor="t"/>
          <a:lstStyle/>
          <a:p>
            <a:pPr marL="0" indent="0">
              <a:buNone/>
            </a:pPr>
            <a:r>
              <a:rPr lang="en-US" sz="1300" dirty="0">
                <a:solidFill>
                  <a:srgbClr val="2B2B33"/>
                </a:solidFill>
                <a:latin typeface="Calibri" pitchFamily="34" charset="0"/>
                <a:ea typeface="Calibri" pitchFamily="34" charset="-122"/>
                <a:cs typeface="Calibri" pitchFamily="34" charset="-120"/>
              </a:rPr>
              <a:t>Methods that return no value</a:t>
            </a:r>
            <a:endParaRPr lang="en-US" sz="1300" dirty="0"/>
          </a:p>
        </p:txBody>
      </p:sp>
      <p:sp>
        <p:nvSpPr>
          <p:cNvPr id="17" name="Shape 14"/>
          <p:cNvSpPr/>
          <p:nvPr/>
        </p:nvSpPr>
        <p:spPr>
          <a:xfrm>
            <a:off x="548640" y="3108960"/>
            <a:ext cx="2624328" cy="1417320"/>
          </a:xfrm>
          <a:prstGeom prst="roundRect">
            <a:avLst>
              <a:gd name="adj" fmla="val 7742"/>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18" name="Text 15"/>
          <p:cNvSpPr txBox="1"/>
          <p:nvPr/>
        </p:nvSpPr>
        <p:spPr>
          <a:xfrm>
            <a:off x="731520" y="3218688"/>
            <a:ext cx="2286000" cy="457200"/>
          </a:xfrm>
          <a:prstGeom prst="rect">
            <a:avLst/>
          </a:prstGeom>
          <a:noFill/>
          <a:ln/>
        </p:spPr>
        <p:txBody>
          <a:bodyPr wrap="square" lIns="0" tIns="0" rIns="0" bIns="0" rtlCol="0" anchor="ctr"/>
          <a:lstStyle/>
          <a:p>
            <a:pPr marL="0" indent="0">
              <a:buNone/>
            </a:pPr>
            <a:r>
              <a:rPr lang="en-US" sz="2000" b="1" dirty="0">
                <a:solidFill>
                  <a:srgbClr val="9B1B30"/>
                </a:solidFill>
                <a:latin typeface="Consolas" pitchFamily="34" charset="0"/>
                <a:ea typeface="Consolas" pitchFamily="34" charset="-122"/>
                <a:cs typeface="Consolas" pitchFamily="34" charset="-120"/>
              </a:rPr>
              <a:t>int</a:t>
            </a:r>
            <a:endParaRPr lang="en-US" sz="2000" dirty="0"/>
          </a:p>
        </p:txBody>
      </p:sp>
      <p:sp>
        <p:nvSpPr>
          <p:cNvPr id="19" name="Text 16"/>
          <p:cNvSpPr txBox="1"/>
          <p:nvPr/>
        </p:nvSpPr>
        <p:spPr>
          <a:xfrm>
            <a:off x="731520" y="3730752"/>
            <a:ext cx="2286000" cy="685800"/>
          </a:xfrm>
          <a:prstGeom prst="rect">
            <a:avLst/>
          </a:prstGeom>
          <a:noFill/>
          <a:ln/>
        </p:spPr>
        <p:txBody>
          <a:bodyPr wrap="square" lIns="0" tIns="0" rIns="0" bIns="0" rtlCol="0" anchor="t"/>
          <a:lstStyle/>
          <a:p>
            <a:pPr marL="0" indent="0">
              <a:buNone/>
            </a:pPr>
            <a:r>
              <a:rPr lang="en-US" sz="1300" dirty="0">
                <a:solidFill>
                  <a:srgbClr val="2B2B33"/>
                </a:solidFill>
                <a:latin typeface="Calibri" pitchFamily="34" charset="0"/>
                <a:ea typeface="Calibri" pitchFamily="34" charset="-122"/>
                <a:cs typeface="Calibri" pitchFamily="34" charset="-120"/>
              </a:rPr>
              <a:t>Blood units, age, count</a:t>
            </a:r>
            <a:endParaRPr lang="en-US" sz="1300" dirty="0"/>
          </a:p>
        </p:txBody>
      </p:sp>
      <p:sp>
        <p:nvSpPr>
          <p:cNvPr id="20" name="Shape 17"/>
          <p:cNvSpPr/>
          <p:nvPr/>
        </p:nvSpPr>
        <p:spPr>
          <a:xfrm>
            <a:off x="3355848" y="3108960"/>
            <a:ext cx="2624328" cy="1417320"/>
          </a:xfrm>
          <a:prstGeom prst="roundRect">
            <a:avLst>
              <a:gd name="adj" fmla="val 7742"/>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21" name="Text 18"/>
          <p:cNvSpPr txBox="1"/>
          <p:nvPr/>
        </p:nvSpPr>
        <p:spPr>
          <a:xfrm>
            <a:off x="3538728" y="3218688"/>
            <a:ext cx="2286000" cy="457200"/>
          </a:xfrm>
          <a:prstGeom prst="rect">
            <a:avLst/>
          </a:prstGeom>
          <a:noFill/>
          <a:ln/>
        </p:spPr>
        <p:txBody>
          <a:bodyPr wrap="square" lIns="0" tIns="0" rIns="0" bIns="0" rtlCol="0" anchor="ctr"/>
          <a:lstStyle/>
          <a:p>
            <a:pPr marL="0" indent="0">
              <a:buNone/>
            </a:pPr>
            <a:r>
              <a:rPr lang="en-US" sz="2000" b="1" dirty="0">
                <a:solidFill>
                  <a:srgbClr val="9B1B30"/>
                </a:solidFill>
                <a:latin typeface="Consolas" pitchFamily="34" charset="0"/>
                <a:ea typeface="Consolas" pitchFamily="34" charset="-122"/>
                <a:cs typeface="Consolas" pitchFamily="34" charset="-120"/>
              </a:rPr>
              <a:t>String</a:t>
            </a:r>
            <a:endParaRPr lang="en-US" sz="2000" dirty="0"/>
          </a:p>
        </p:txBody>
      </p:sp>
      <p:sp>
        <p:nvSpPr>
          <p:cNvPr id="22" name="Text 19"/>
          <p:cNvSpPr txBox="1"/>
          <p:nvPr/>
        </p:nvSpPr>
        <p:spPr>
          <a:xfrm>
            <a:off x="3538728" y="3730752"/>
            <a:ext cx="2286000" cy="685800"/>
          </a:xfrm>
          <a:prstGeom prst="rect">
            <a:avLst/>
          </a:prstGeom>
          <a:noFill/>
          <a:ln/>
        </p:spPr>
        <p:txBody>
          <a:bodyPr wrap="square" lIns="0" tIns="0" rIns="0" bIns="0" rtlCol="0" anchor="t"/>
          <a:lstStyle/>
          <a:p>
            <a:pPr marL="0" indent="0">
              <a:buNone/>
            </a:pPr>
            <a:r>
              <a:rPr lang="en-US" sz="1300" dirty="0">
                <a:solidFill>
                  <a:srgbClr val="2B2B33"/>
                </a:solidFill>
                <a:latin typeface="Calibri" pitchFamily="34" charset="0"/>
                <a:ea typeface="Calibri" pitchFamily="34" charset="-122"/>
                <a:cs typeface="Calibri" pitchFamily="34" charset="-120"/>
              </a:rPr>
              <a:t>Donor name, blood group, phone number</a:t>
            </a:r>
            <a:endParaRPr lang="en-US" sz="1300" dirty="0"/>
          </a:p>
        </p:txBody>
      </p:sp>
      <p:sp>
        <p:nvSpPr>
          <p:cNvPr id="23" name="Shape 20"/>
          <p:cNvSpPr/>
          <p:nvPr/>
        </p:nvSpPr>
        <p:spPr>
          <a:xfrm>
            <a:off x="6163056" y="3108960"/>
            <a:ext cx="2624328" cy="1417320"/>
          </a:xfrm>
          <a:prstGeom prst="roundRect">
            <a:avLst>
              <a:gd name="adj" fmla="val 7742"/>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24" name="Text 21"/>
          <p:cNvSpPr txBox="1"/>
          <p:nvPr/>
        </p:nvSpPr>
        <p:spPr>
          <a:xfrm>
            <a:off x="6345936" y="3218688"/>
            <a:ext cx="2286000" cy="457200"/>
          </a:xfrm>
          <a:prstGeom prst="rect">
            <a:avLst/>
          </a:prstGeom>
          <a:noFill/>
          <a:ln/>
        </p:spPr>
        <p:txBody>
          <a:bodyPr wrap="square" lIns="0" tIns="0" rIns="0" bIns="0" rtlCol="0" anchor="ctr"/>
          <a:lstStyle/>
          <a:p>
            <a:pPr marL="0" indent="0">
              <a:buNone/>
            </a:pPr>
            <a:r>
              <a:rPr lang="en-US" sz="2000" b="1" dirty="0">
                <a:solidFill>
                  <a:srgbClr val="9B1B30"/>
                </a:solidFill>
                <a:latin typeface="Consolas" pitchFamily="34" charset="0"/>
                <a:ea typeface="Consolas" pitchFamily="34" charset="-122"/>
                <a:cs typeface="Consolas" pitchFamily="34" charset="-120"/>
              </a:rPr>
              <a:t>if / else</a:t>
            </a:r>
            <a:endParaRPr lang="en-US" sz="2000" dirty="0"/>
          </a:p>
        </p:txBody>
      </p:sp>
      <p:sp>
        <p:nvSpPr>
          <p:cNvPr id="25" name="Text 22"/>
          <p:cNvSpPr txBox="1"/>
          <p:nvPr/>
        </p:nvSpPr>
        <p:spPr>
          <a:xfrm>
            <a:off x="6345936" y="3730752"/>
            <a:ext cx="2286000" cy="685800"/>
          </a:xfrm>
          <a:prstGeom prst="rect">
            <a:avLst/>
          </a:prstGeom>
          <a:noFill/>
          <a:ln/>
        </p:spPr>
        <p:txBody>
          <a:bodyPr wrap="square" lIns="0" tIns="0" rIns="0" bIns="0" rtlCol="0" anchor="t"/>
          <a:lstStyle/>
          <a:p>
            <a:pPr marL="0" indent="0">
              <a:buNone/>
            </a:pPr>
            <a:r>
              <a:rPr lang="en-US" sz="1300" dirty="0">
                <a:solidFill>
                  <a:srgbClr val="2B2B33"/>
                </a:solidFill>
                <a:latin typeface="Calibri" pitchFamily="34" charset="0"/>
                <a:ea typeface="Calibri" pitchFamily="34" charset="-122"/>
                <a:cs typeface="Calibri" pitchFamily="34" charset="-120"/>
              </a:rPr>
              <a:t>Compatibility and stock conditions</a:t>
            </a:r>
            <a:endParaRPr lang="en-US" sz="1300" dirty="0"/>
          </a:p>
        </p:txBody>
      </p:sp>
      <p:sp>
        <p:nvSpPr>
          <p:cNvPr id="26" name="Shape 23"/>
          <p:cNvSpPr/>
          <p:nvPr/>
        </p:nvSpPr>
        <p:spPr>
          <a:xfrm>
            <a:off x="8970264" y="3108960"/>
            <a:ext cx="2624328" cy="1417320"/>
          </a:xfrm>
          <a:prstGeom prst="roundRect">
            <a:avLst>
              <a:gd name="adj" fmla="val 7742"/>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27" name="Text 24"/>
          <p:cNvSpPr txBox="1"/>
          <p:nvPr/>
        </p:nvSpPr>
        <p:spPr>
          <a:xfrm>
            <a:off x="9153144" y="3218688"/>
            <a:ext cx="2286000" cy="457200"/>
          </a:xfrm>
          <a:prstGeom prst="rect">
            <a:avLst/>
          </a:prstGeom>
          <a:noFill/>
          <a:ln/>
        </p:spPr>
        <p:txBody>
          <a:bodyPr wrap="square" lIns="0" tIns="0" rIns="0" bIns="0" rtlCol="0" anchor="ctr"/>
          <a:lstStyle/>
          <a:p>
            <a:pPr marL="0" indent="0">
              <a:buNone/>
            </a:pPr>
            <a:r>
              <a:rPr lang="en-US" sz="2000" b="1" dirty="0">
                <a:solidFill>
                  <a:srgbClr val="9B1B30"/>
                </a:solidFill>
                <a:latin typeface="Consolas" pitchFamily="34" charset="0"/>
                <a:ea typeface="Consolas" pitchFamily="34" charset="-122"/>
                <a:cs typeface="Consolas" pitchFamily="34" charset="-120"/>
              </a:rPr>
              <a:t>switch</a:t>
            </a:r>
            <a:endParaRPr lang="en-US" sz="2000" dirty="0"/>
          </a:p>
        </p:txBody>
      </p:sp>
      <p:sp>
        <p:nvSpPr>
          <p:cNvPr id="28" name="Text 25"/>
          <p:cNvSpPr txBox="1"/>
          <p:nvPr/>
        </p:nvSpPr>
        <p:spPr>
          <a:xfrm>
            <a:off x="9153144" y="3730752"/>
            <a:ext cx="2286000" cy="685800"/>
          </a:xfrm>
          <a:prstGeom prst="rect">
            <a:avLst/>
          </a:prstGeom>
          <a:noFill/>
          <a:ln/>
        </p:spPr>
        <p:txBody>
          <a:bodyPr wrap="square" lIns="0" tIns="0" rIns="0" bIns="0" rtlCol="0" anchor="t"/>
          <a:lstStyle/>
          <a:p>
            <a:pPr marL="0" indent="0">
              <a:buNone/>
            </a:pPr>
            <a:r>
              <a:rPr lang="en-US" sz="1300" dirty="0">
                <a:solidFill>
                  <a:srgbClr val="2B2B33"/>
                </a:solidFill>
                <a:latin typeface="Calibri" pitchFamily="34" charset="0"/>
                <a:ea typeface="Calibri" pitchFamily="34" charset="-122"/>
                <a:cs typeface="Calibri" pitchFamily="34" charset="-120"/>
              </a:rPr>
              <a:t>Blood-group menu</a:t>
            </a:r>
            <a:endParaRPr lang="en-US" sz="1300" dirty="0"/>
          </a:p>
        </p:txBody>
      </p:sp>
      <p:sp>
        <p:nvSpPr>
          <p:cNvPr id="29" name="Shape 26"/>
          <p:cNvSpPr/>
          <p:nvPr/>
        </p:nvSpPr>
        <p:spPr>
          <a:xfrm>
            <a:off x="548640" y="4709160"/>
            <a:ext cx="2624328" cy="1417320"/>
          </a:xfrm>
          <a:prstGeom prst="roundRect">
            <a:avLst>
              <a:gd name="adj" fmla="val 7742"/>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30" name="Text 27"/>
          <p:cNvSpPr txBox="1"/>
          <p:nvPr/>
        </p:nvSpPr>
        <p:spPr>
          <a:xfrm>
            <a:off x="731520" y="4818888"/>
            <a:ext cx="2286000" cy="457200"/>
          </a:xfrm>
          <a:prstGeom prst="rect">
            <a:avLst/>
          </a:prstGeom>
          <a:noFill/>
          <a:ln/>
        </p:spPr>
        <p:txBody>
          <a:bodyPr wrap="square" lIns="0" tIns="0" rIns="0" bIns="0" rtlCol="0" anchor="ctr"/>
          <a:lstStyle/>
          <a:p>
            <a:pPr marL="0" indent="0">
              <a:buNone/>
            </a:pPr>
            <a:r>
              <a:rPr lang="en-US" sz="2000" b="1" dirty="0">
                <a:solidFill>
                  <a:srgbClr val="9B1B30"/>
                </a:solidFill>
                <a:latin typeface="Consolas" pitchFamily="34" charset="0"/>
                <a:ea typeface="Consolas" pitchFamily="34" charset="-122"/>
                <a:cs typeface="Consolas" pitchFamily="34" charset="-120"/>
              </a:rPr>
              <a:t>for</a:t>
            </a:r>
            <a:endParaRPr lang="en-US" sz="2000" dirty="0"/>
          </a:p>
        </p:txBody>
      </p:sp>
      <p:sp>
        <p:nvSpPr>
          <p:cNvPr id="31" name="Text 28"/>
          <p:cNvSpPr txBox="1"/>
          <p:nvPr/>
        </p:nvSpPr>
        <p:spPr>
          <a:xfrm>
            <a:off x="731520" y="5330952"/>
            <a:ext cx="2286000" cy="685800"/>
          </a:xfrm>
          <a:prstGeom prst="rect">
            <a:avLst/>
          </a:prstGeom>
          <a:noFill/>
          <a:ln/>
        </p:spPr>
        <p:txBody>
          <a:bodyPr wrap="square" lIns="0" tIns="0" rIns="0" bIns="0" rtlCol="0" anchor="t"/>
          <a:lstStyle/>
          <a:p>
            <a:pPr marL="0" indent="0">
              <a:buNone/>
            </a:pPr>
            <a:r>
              <a:rPr lang="en-US" sz="1300" dirty="0">
                <a:solidFill>
                  <a:srgbClr val="2B2B33"/>
                </a:solidFill>
                <a:latin typeface="Calibri" pitchFamily="34" charset="0"/>
                <a:ea typeface="Calibri" pitchFamily="34" charset="-122"/>
                <a:cs typeface="Calibri" pitchFamily="34" charset="-120"/>
              </a:rPr>
              <a:t>Searches the donor list</a:t>
            </a:r>
            <a:endParaRPr lang="en-US" sz="1300" dirty="0"/>
          </a:p>
        </p:txBody>
      </p:sp>
      <p:sp>
        <p:nvSpPr>
          <p:cNvPr id="32" name="Shape 29"/>
          <p:cNvSpPr/>
          <p:nvPr/>
        </p:nvSpPr>
        <p:spPr>
          <a:xfrm>
            <a:off x="3355848" y="4709160"/>
            <a:ext cx="2624328" cy="1417320"/>
          </a:xfrm>
          <a:prstGeom prst="roundRect">
            <a:avLst>
              <a:gd name="adj" fmla="val 7742"/>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33" name="Text 30"/>
          <p:cNvSpPr txBox="1"/>
          <p:nvPr/>
        </p:nvSpPr>
        <p:spPr>
          <a:xfrm>
            <a:off x="3538728" y="4818888"/>
            <a:ext cx="2286000" cy="457200"/>
          </a:xfrm>
          <a:prstGeom prst="rect">
            <a:avLst/>
          </a:prstGeom>
          <a:noFill/>
          <a:ln/>
        </p:spPr>
        <p:txBody>
          <a:bodyPr wrap="square" lIns="0" tIns="0" rIns="0" bIns="0" rtlCol="0" anchor="ctr"/>
          <a:lstStyle/>
          <a:p>
            <a:pPr marL="0" indent="0">
              <a:buNone/>
            </a:pPr>
            <a:r>
              <a:rPr lang="en-US" sz="2000" b="1" dirty="0">
                <a:solidFill>
                  <a:srgbClr val="9B1B30"/>
                </a:solidFill>
                <a:latin typeface="Consolas" pitchFamily="34" charset="0"/>
                <a:ea typeface="Consolas" pitchFamily="34" charset="-122"/>
                <a:cs typeface="Consolas" pitchFamily="34" charset="-120"/>
              </a:rPr>
              <a:t>while</a:t>
            </a:r>
            <a:endParaRPr lang="en-US" sz="2000" dirty="0"/>
          </a:p>
        </p:txBody>
      </p:sp>
      <p:sp>
        <p:nvSpPr>
          <p:cNvPr id="34" name="Text 31"/>
          <p:cNvSpPr txBox="1"/>
          <p:nvPr/>
        </p:nvSpPr>
        <p:spPr>
          <a:xfrm>
            <a:off x="3538728" y="5330952"/>
            <a:ext cx="2286000" cy="685800"/>
          </a:xfrm>
          <a:prstGeom prst="rect">
            <a:avLst/>
          </a:prstGeom>
          <a:noFill/>
          <a:ln/>
        </p:spPr>
        <p:txBody>
          <a:bodyPr wrap="square" lIns="0" tIns="0" rIns="0" bIns="0" rtlCol="0" anchor="t"/>
          <a:lstStyle/>
          <a:p>
            <a:pPr marL="0" indent="0">
              <a:buNone/>
            </a:pPr>
            <a:r>
              <a:rPr lang="en-US" sz="1300" dirty="0">
                <a:solidFill>
                  <a:srgbClr val="2B2B33"/>
                </a:solidFill>
                <a:latin typeface="Calibri" pitchFamily="34" charset="0"/>
                <a:ea typeface="Calibri" pitchFamily="34" charset="-122"/>
                <a:cs typeface="Calibri" pitchFamily="34" charset="-120"/>
              </a:rPr>
              <a:t>Monitors and updates blood stock</a:t>
            </a:r>
            <a:endParaRPr lang="en-US" sz="1300" dirty="0"/>
          </a:p>
        </p:txBody>
      </p:sp>
      <p:sp>
        <p:nvSpPr>
          <p:cNvPr id="35" name="Shape 32"/>
          <p:cNvSpPr/>
          <p:nvPr/>
        </p:nvSpPr>
        <p:spPr>
          <a:xfrm>
            <a:off x="6163056" y="4709160"/>
            <a:ext cx="2624328" cy="1417320"/>
          </a:xfrm>
          <a:prstGeom prst="roundRect">
            <a:avLst>
              <a:gd name="adj" fmla="val 7742"/>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36" name="Text 33"/>
          <p:cNvSpPr txBox="1"/>
          <p:nvPr/>
        </p:nvSpPr>
        <p:spPr>
          <a:xfrm>
            <a:off x="6345936" y="4818888"/>
            <a:ext cx="2286000" cy="457200"/>
          </a:xfrm>
          <a:prstGeom prst="rect">
            <a:avLst/>
          </a:prstGeom>
          <a:noFill/>
          <a:ln/>
        </p:spPr>
        <p:txBody>
          <a:bodyPr wrap="square" lIns="0" tIns="0" rIns="0" bIns="0" rtlCol="0" anchor="ctr"/>
          <a:lstStyle/>
          <a:p>
            <a:pPr marL="0" indent="0">
              <a:buNone/>
            </a:pPr>
            <a:r>
              <a:rPr lang="en-US" sz="2000" b="1" dirty="0">
                <a:solidFill>
                  <a:srgbClr val="9B1B30"/>
                </a:solidFill>
                <a:latin typeface="Consolas" pitchFamily="34" charset="0"/>
                <a:ea typeface="Consolas" pitchFamily="34" charset="-122"/>
                <a:cs typeface="Consolas" pitchFamily="34" charset="-120"/>
              </a:rPr>
              <a:t>new</a:t>
            </a:r>
            <a:endParaRPr lang="en-US" sz="2000" dirty="0"/>
          </a:p>
        </p:txBody>
      </p:sp>
      <p:sp>
        <p:nvSpPr>
          <p:cNvPr id="37" name="Text 34"/>
          <p:cNvSpPr txBox="1"/>
          <p:nvPr/>
        </p:nvSpPr>
        <p:spPr>
          <a:xfrm>
            <a:off x="6345936" y="5330952"/>
            <a:ext cx="2286000" cy="685800"/>
          </a:xfrm>
          <a:prstGeom prst="rect">
            <a:avLst/>
          </a:prstGeom>
          <a:noFill/>
          <a:ln/>
        </p:spPr>
        <p:txBody>
          <a:bodyPr wrap="square" lIns="0" tIns="0" rIns="0" bIns="0" rtlCol="0" anchor="t"/>
          <a:lstStyle/>
          <a:p>
            <a:pPr marL="0" indent="0">
              <a:buNone/>
            </a:pPr>
            <a:r>
              <a:rPr lang="en-US" sz="1300" dirty="0">
                <a:solidFill>
                  <a:srgbClr val="2B2B33"/>
                </a:solidFill>
                <a:latin typeface="Calibri" pitchFamily="34" charset="0"/>
                <a:ea typeface="Calibri" pitchFamily="34" charset="-122"/>
                <a:cs typeface="Calibri" pitchFamily="34" charset="-120"/>
              </a:rPr>
              <a:t>Creates objects</a:t>
            </a:r>
            <a:endParaRPr lang="en-US" sz="1300" dirty="0"/>
          </a:p>
        </p:txBody>
      </p:sp>
      <p:sp>
        <p:nvSpPr>
          <p:cNvPr id="38" name="Shape 35"/>
          <p:cNvSpPr/>
          <p:nvPr/>
        </p:nvSpPr>
        <p:spPr>
          <a:xfrm>
            <a:off x="8970264" y="4709160"/>
            <a:ext cx="2624328" cy="1417320"/>
          </a:xfrm>
          <a:prstGeom prst="roundRect">
            <a:avLst>
              <a:gd name="adj" fmla="val 7742"/>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39" name="Text 36"/>
          <p:cNvSpPr txBox="1"/>
          <p:nvPr/>
        </p:nvSpPr>
        <p:spPr>
          <a:xfrm>
            <a:off x="9153144" y="4818888"/>
            <a:ext cx="2286000" cy="457200"/>
          </a:xfrm>
          <a:prstGeom prst="rect">
            <a:avLst/>
          </a:prstGeom>
          <a:noFill/>
          <a:ln/>
        </p:spPr>
        <p:txBody>
          <a:bodyPr wrap="square" lIns="0" tIns="0" rIns="0" bIns="0" rtlCol="0" anchor="ctr"/>
          <a:lstStyle/>
          <a:p>
            <a:pPr marL="0" indent="0">
              <a:buNone/>
            </a:pPr>
            <a:r>
              <a:rPr lang="en-US" sz="2000" b="1" dirty="0">
                <a:solidFill>
                  <a:srgbClr val="9B1B30"/>
                </a:solidFill>
                <a:latin typeface="Consolas" pitchFamily="34" charset="0"/>
                <a:ea typeface="Consolas" pitchFamily="34" charset="-122"/>
                <a:cs typeface="Consolas" pitchFamily="34" charset="-120"/>
              </a:rPr>
              <a:t>return</a:t>
            </a:r>
            <a:endParaRPr lang="en-US" sz="2000" dirty="0"/>
          </a:p>
        </p:txBody>
      </p:sp>
      <p:sp>
        <p:nvSpPr>
          <p:cNvPr id="40" name="Text 37"/>
          <p:cNvSpPr txBox="1"/>
          <p:nvPr/>
        </p:nvSpPr>
        <p:spPr>
          <a:xfrm>
            <a:off x="9153144" y="5330952"/>
            <a:ext cx="2286000" cy="685800"/>
          </a:xfrm>
          <a:prstGeom prst="rect">
            <a:avLst/>
          </a:prstGeom>
          <a:noFill/>
          <a:ln/>
        </p:spPr>
        <p:txBody>
          <a:bodyPr wrap="square" lIns="0" tIns="0" rIns="0" bIns="0" rtlCol="0" anchor="t"/>
          <a:lstStyle/>
          <a:p>
            <a:pPr marL="0" indent="0">
              <a:buNone/>
            </a:pPr>
            <a:r>
              <a:rPr lang="en-US" sz="1300" dirty="0">
                <a:solidFill>
                  <a:srgbClr val="2B2B33"/>
                </a:solidFill>
                <a:latin typeface="Calibri" pitchFamily="34" charset="0"/>
                <a:ea typeface="Calibri" pitchFamily="34" charset="-122"/>
                <a:cs typeface="Calibri" pitchFamily="34" charset="-120"/>
              </a:rPr>
              <a:t>Returns a value from a method</a:t>
            </a:r>
            <a:endParaRPr lang="en-US" sz="1300" dirty="0"/>
          </a:p>
        </p:txBody>
      </p:sp>
      <p:sp>
        <p:nvSpPr>
          <p:cNvPr id="41" name="Text 38"/>
          <p:cNvSpPr txBox="1"/>
          <p:nvPr/>
        </p:nvSpPr>
        <p:spPr>
          <a:xfrm>
            <a:off x="11247120" y="6355080"/>
            <a:ext cx="548640" cy="274320"/>
          </a:xfrm>
          <a:prstGeom prst="rect">
            <a:avLst/>
          </a:prstGeom>
          <a:noFill/>
          <a:ln/>
        </p:spPr>
        <p:txBody>
          <a:bodyPr wrap="square" lIns="0" tIns="0" rIns="0" bIns="0" rtlCol="0" anchor="ctr"/>
          <a:lstStyle/>
          <a:p>
            <a:pPr marL="0" indent="0" algn="r">
              <a:buNone/>
            </a:pPr>
            <a:r>
              <a:rPr lang="en-US" sz="1200" dirty="0">
                <a:solidFill>
                  <a:srgbClr val="6B5B5F"/>
                </a:solidFill>
                <a:latin typeface="Calibri" pitchFamily="34" charset="0"/>
                <a:ea typeface="Calibri" pitchFamily="34" charset="-122"/>
                <a:cs typeface="Calibri"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name="Slide 8">
    <p:bg>
      <p:bgPr>
        <a:solidFill>
          <a:srgbClr val="FBF3F4"/>
        </a:solidFill>
        <a:effectLst/>
      </p:bgPr>
    </p:bg>
    <p:spTree>
      <p:nvGrpSpPr>
        <p:cNvPr id="1" name=""/>
        <p:cNvGrpSpPr/>
        <p:nvPr/>
      </p:nvGrpSpPr>
      <p:grpSpPr>
        <a:xfrm>
          <a:off x="0" y="0"/>
          <a:ext cx="0" cy="0"/>
          <a:chOff x="0" y="0"/>
          <a:chExt cx="0" cy="0"/>
        </a:xfrm>
      </p:grpSpPr>
      <p:sp>
        <p:nvSpPr>
          <p:cNvPr id="2" name="Shape 0"/>
          <p:cNvSpPr/>
          <p:nvPr/>
        </p:nvSpPr>
        <p:spPr>
          <a:xfrm>
            <a:off x="548640" y="411480"/>
            <a:ext cx="731520" cy="731520"/>
          </a:xfrm>
          <a:prstGeom prst="ellipse">
            <a:avLst/>
          </a:prstGeom>
          <a:solidFill>
            <a:srgbClr val="9B1B30"/>
          </a:solidFill>
          <a:ln w="12700">
            <a:solidFill>
              <a:srgbClr val="9B1B30"/>
            </a:solidFill>
            <a:prstDash val="solid"/>
          </a:ln>
        </p:spPr>
      </p:sp>
      <p:pic>
        <p:nvPicPr>
          <p:cNvPr id="3" name="Image 0" descr="preencoded.png"/>
          <p:cNvPicPr>
            <a:picLocks noChangeAspect="1"/>
          </p:cNvPicPr>
          <p:nvPr/>
        </p:nvPicPr>
        <p:blipFill>
          <a:blip r:embed="rId3"/>
          <a:stretch>
            <a:fillRect/>
          </a:stretch>
        </p:blipFill>
        <p:spPr>
          <a:xfrm>
            <a:off x="731520" y="594360"/>
            <a:ext cx="365760" cy="365760"/>
          </a:xfrm>
          <a:prstGeom prst="rect">
            <a:avLst/>
          </a:prstGeom>
        </p:spPr>
      </p:pic>
      <p:sp>
        <p:nvSpPr>
          <p:cNvPr id="4" name="Text 1"/>
          <p:cNvSpPr txBox="1"/>
          <p:nvPr/>
        </p:nvSpPr>
        <p:spPr>
          <a:xfrm>
            <a:off x="1463040" y="411480"/>
            <a:ext cx="9601200" cy="731520"/>
          </a:xfrm>
          <a:prstGeom prst="rect">
            <a:avLst/>
          </a:prstGeom>
          <a:noFill/>
          <a:ln/>
        </p:spPr>
        <p:txBody>
          <a:bodyPr wrap="square" lIns="0" tIns="0" rIns="0" bIns="0" rtlCol="0" anchor="ctr"/>
          <a:lstStyle/>
          <a:p>
            <a:pPr marL="0" indent="0">
              <a:buNone/>
            </a:pPr>
            <a:r>
              <a:rPr lang="en-US" sz="3600" b="1" dirty="0">
                <a:solidFill>
                  <a:srgbClr val="3A0A14"/>
                </a:solidFill>
                <a:latin typeface="Cambria" pitchFamily="34" charset="0"/>
                <a:ea typeface="Cambria" pitchFamily="34" charset="-122"/>
                <a:cs typeface="Cambria" pitchFamily="34" charset="-120"/>
              </a:rPr>
              <a:t>CO1 &amp; CO2 ATTAINMENTS</a:t>
            </a:r>
            <a:endParaRPr lang="en-US" sz="3600" dirty="0"/>
          </a:p>
        </p:txBody>
      </p:sp>
      <p:sp>
        <p:nvSpPr>
          <p:cNvPr id="5" name="Shape 2"/>
          <p:cNvSpPr/>
          <p:nvPr/>
        </p:nvSpPr>
        <p:spPr>
          <a:xfrm>
            <a:off x="548640" y="1463040"/>
            <a:ext cx="6400800" cy="4617720"/>
          </a:xfrm>
          <a:prstGeom prst="roundRect">
            <a:avLst>
              <a:gd name="adj" fmla="val 2376"/>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6" name="Shape 3"/>
          <p:cNvSpPr/>
          <p:nvPr/>
        </p:nvSpPr>
        <p:spPr>
          <a:xfrm>
            <a:off x="822960" y="1691640"/>
            <a:ext cx="1005840" cy="457200"/>
          </a:xfrm>
          <a:prstGeom prst="roundRect">
            <a:avLst>
              <a:gd name="adj" fmla="val 20000"/>
            </a:avLst>
          </a:prstGeom>
          <a:solidFill>
            <a:srgbClr val="9B1B30"/>
          </a:solidFill>
          <a:ln w="12700">
            <a:solidFill>
              <a:srgbClr val="9B1B30"/>
            </a:solidFill>
            <a:prstDash val="solid"/>
          </a:ln>
        </p:spPr>
      </p:sp>
      <p:sp>
        <p:nvSpPr>
          <p:cNvPr id="7" name="Text 4"/>
          <p:cNvSpPr txBox="1"/>
          <p:nvPr/>
        </p:nvSpPr>
        <p:spPr>
          <a:xfrm>
            <a:off x="822960" y="1691640"/>
            <a:ext cx="100584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CO1</a:t>
            </a:r>
            <a:endParaRPr lang="en-US" sz="1800" dirty="0"/>
          </a:p>
        </p:txBody>
      </p:sp>
      <p:sp>
        <p:nvSpPr>
          <p:cNvPr id="8" name="Text 5"/>
          <p:cNvSpPr txBox="1"/>
          <p:nvPr/>
        </p:nvSpPr>
        <p:spPr>
          <a:xfrm>
            <a:off x="868680" y="2331720"/>
            <a:ext cx="5760720" cy="579120"/>
          </a:xfrm>
          <a:prstGeom prst="rect">
            <a:avLst/>
          </a:prstGeom>
          <a:noFill/>
          <a:ln/>
        </p:spPr>
        <p:txBody>
          <a:bodyPr wrap="square" lIns="0" tIns="0" rIns="0" bIns="0" rtlCol="0" anchor="ctr"/>
          <a:lstStyle/>
          <a:p>
            <a:pPr marL="0" indent="0">
              <a:buNone/>
            </a:pPr>
            <a:r>
              <a:rPr lang="en-US" sz="1500" b="1" dirty="0">
                <a:solidFill>
                  <a:srgbClr val="9B1B30"/>
                </a:solidFill>
                <a:latin typeface="Calibri" pitchFamily="34" charset="0"/>
                <a:ea typeface="Calibri" pitchFamily="34" charset="-122"/>
                <a:cs typeface="Calibri" pitchFamily="34" charset="-120"/>
              </a:rPr>
              <a:t>Primitive Data Types  </a:t>
            </a:r>
            <a:r>
              <a:rPr lang="en-US" sz="1500" dirty="0">
                <a:solidFill>
                  <a:srgbClr val="2B2B33"/>
                </a:solidFill>
                <a:latin typeface="Calibri" pitchFamily="34" charset="0"/>
                <a:ea typeface="Calibri" pitchFamily="34" charset="-122"/>
                <a:cs typeface="Calibri" pitchFamily="34" charset="-120"/>
              </a:rPr>
              <a:t>int, double, char, boolean</a:t>
            </a:r>
            <a:endParaRPr lang="en-US" sz="1500" dirty="0"/>
          </a:p>
        </p:txBody>
      </p:sp>
      <p:sp>
        <p:nvSpPr>
          <p:cNvPr id="9" name="Text 6"/>
          <p:cNvSpPr txBox="1"/>
          <p:nvPr/>
        </p:nvSpPr>
        <p:spPr>
          <a:xfrm>
            <a:off x="868680" y="2910840"/>
            <a:ext cx="5760720" cy="579120"/>
          </a:xfrm>
          <a:prstGeom prst="rect">
            <a:avLst/>
          </a:prstGeom>
          <a:noFill/>
          <a:ln/>
        </p:spPr>
        <p:txBody>
          <a:bodyPr wrap="square" lIns="0" tIns="0" rIns="0" bIns="0" rtlCol="0" anchor="ctr"/>
          <a:lstStyle/>
          <a:p>
            <a:pPr marL="0" indent="0">
              <a:buNone/>
            </a:pPr>
            <a:r>
              <a:rPr lang="en-US" sz="1500" b="1" dirty="0">
                <a:solidFill>
                  <a:srgbClr val="9B1B30"/>
                </a:solidFill>
                <a:latin typeface="Calibri" pitchFamily="34" charset="0"/>
                <a:ea typeface="Calibri" pitchFamily="34" charset="-122"/>
                <a:cs typeface="Calibri" pitchFamily="34" charset="-120"/>
              </a:rPr>
              <a:t>Variables  </a:t>
            </a:r>
            <a:r>
              <a:rPr lang="en-US" sz="1500" dirty="0">
                <a:solidFill>
                  <a:srgbClr val="2B2B33"/>
                </a:solidFill>
                <a:latin typeface="Calibri" pitchFamily="34" charset="0"/>
                <a:ea typeface="Calibri" pitchFamily="34" charset="-122"/>
                <a:cs typeface="Calibri" pitchFamily="34" charset="-120"/>
              </a:rPr>
              <a:t>donor details, blood-stock quantities</a:t>
            </a:r>
            <a:endParaRPr lang="en-US" sz="1500" dirty="0"/>
          </a:p>
        </p:txBody>
      </p:sp>
      <p:sp>
        <p:nvSpPr>
          <p:cNvPr id="10" name="Text 7"/>
          <p:cNvSpPr txBox="1"/>
          <p:nvPr/>
        </p:nvSpPr>
        <p:spPr>
          <a:xfrm>
            <a:off x="868680" y="3489960"/>
            <a:ext cx="5760720" cy="579120"/>
          </a:xfrm>
          <a:prstGeom prst="rect">
            <a:avLst/>
          </a:prstGeom>
          <a:noFill/>
          <a:ln/>
        </p:spPr>
        <p:txBody>
          <a:bodyPr wrap="square" lIns="0" tIns="0" rIns="0" bIns="0" rtlCol="0" anchor="ctr"/>
          <a:lstStyle/>
          <a:p>
            <a:pPr marL="0" indent="0">
              <a:buNone/>
            </a:pPr>
            <a:r>
              <a:rPr lang="en-US" sz="1500" b="1" dirty="0">
                <a:solidFill>
                  <a:srgbClr val="9B1B30"/>
                </a:solidFill>
                <a:latin typeface="Calibri" pitchFamily="34" charset="0"/>
                <a:ea typeface="Calibri" pitchFamily="34" charset="-122"/>
                <a:cs typeface="Calibri" pitchFamily="34" charset="-120"/>
              </a:rPr>
              <a:t>Constants  </a:t>
            </a:r>
            <a:r>
              <a:rPr lang="en-US" sz="1500" dirty="0">
                <a:solidFill>
                  <a:srgbClr val="2B2B33"/>
                </a:solidFill>
                <a:latin typeface="Calibri" pitchFamily="34" charset="0"/>
                <a:ea typeface="Calibri" pitchFamily="34" charset="-122"/>
                <a:cs typeface="Calibri" pitchFamily="34" charset="-120"/>
              </a:rPr>
              <a:t>fixed values if required</a:t>
            </a:r>
            <a:endParaRPr lang="en-US" sz="1500" dirty="0"/>
          </a:p>
        </p:txBody>
      </p:sp>
      <p:sp>
        <p:nvSpPr>
          <p:cNvPr id="11" name="Text 8"/>
          <p:cNvSpPr txBox="1"/>
          <p:nvPr/>
        </p:nvSpPr>
        <p:spPr>
          <a:xfrm>
            <a:off x="868680" y="4069080"/>
            <a:ext cx="5760720" cy="579120"/>
          </a:xfrm>
          <a:prstGeom prst="rect">
            <a:avLst/>
          </a:prstGeom>
          <a:noFill/>
          <a:ln/>
        </p:spPr>
        <p:txBody>
          <a:bodyPr wrap="square" lIns="0" tIns="0" rIns="0" bIns="0" rtlCol="0" anchor="ctr"/>
          <a:lstStyle/>
          <a:p>
            <a:pPr marL="0" indent="0">
              <a:buNone/>
            </a:pPr>
            <a:r>
              <a:rPr lang="en-US" sz="1500" b="1" dirty="0">
                <a:solidFill>
                  <a:srgbClr val="9B1B30"/>
                </a:solidFill>
                <a:latin typeface="Calibri" pitchFamily="34" charset="0"/>
                <a:ea typeface="Calibri" pitchFamily="34" charset="-122"/>
                <a:cs typeface="Calibri" pitchFamily="34" charset="-120"/>
              </a:rPr>
              <a:t>Identifiers  </a:t>
            </a:r>
            <a:r>
              <a:rPr lang="en-US" sz="1500" dirty="0">
                <a:solidFill>
                  <a:srgbClr val="2B2B33"/>
                </a:solidFill>
                <a:latin typeface="Calibri" pitchFamily="34" charset="0"/>
                <a:ea typeface="Calibri" pitchFamily="34" charset="-122"/>
                <a:cs typeface="Calibri" pitchFamily="34" charset="-120"/>
              </a:rPr>
              <a:t>names for variables, methods, classes</a:t>
            </a:r>
            <a:endParaRPr lang="en-US" sz="1500" dirty="0"/>
          </a:p>
        </p:txBody>
      </p:sp>
      <p:sp>
        <p:nvSpPr>
          <p:cNvPr id="12" name="Text 9"/>
          <p:cNvSpPr txBox="1"/>
          <p:nvPr/>
        </p:nvSpPr>
        <p:spPr>
          <a:xfrm>
            <a:off x="868680" y="4648200"/>
            <a:ext cx="5760720" cy="579120"/>
          </a:xfrm>
          <a:prstGeom prst="rect">
            <a:avLst/>
          </a:prstGeom>
          <a:noFill/>
          <a:ln/>
        </p:spPr>
        <p:txBody>
          <a:bodyPr wrap="square" lIns="0" tIns="0" rIns="0" bIns="0" rtlCol="0" anchor="ctr"/>
          <a:lstStyle/>
          <a:p>
            <a:pPr marL="0" indent="0">
              <a:buNone/>
            </a:pPr>
            <a:r>
              <a:rPr lang="en-US" sz="1500" b="1" dirty="0">
                <a:solidFill>
                  <a:srgbClr val="9B1B30"/>
                </a:solidFill>
                <a:latin typeface="Calibri" pitchFamily="34" charset="0"/>
                <a:ea typeface="Calibri" pitchFamily="34" charset="-122"/>
                <a:cs typeface="Calibri" pitchFamily="34" charset="-120"/>
              </a:rPr>
              <a:t>Operators  </a:t>
            </a:r>
            <a:r>
              <a:rPr lang="en-US" sz="1500" dirty="0">
                <a:solidFill>
                  <a:srgbClr val="2B2B33"/>
                </a:solidFill>
                <a:latin typeface="Calibri" pitchFamily="34" charset="0"/>
                <a:ea typeface="Calibri" pitchFamily="34" charset="-122"/>
                <a:cs typeface="Calibri" pitchFamily="34" charset="-120"/>
              </a:rPr>
              <a:t>arithmetic, relational, logical</a:t>
            </a:r>
            <a:endParaRPr lang="en-US" sz="1500" dirty="0"/>
          </a:p>
        </p:txBody>
      </p:sp>
      <p:sp>
        <p:nvSpPr>
          <p:cNvPr id="13" name="Text 10"/>
          <p:cNvSpPr txBox="1"/>
          <p:nvPr/>
        </p:nvSpPr>
        <p:spPr>
          <a:xfrm>
            <a:off x="868680" y="5227320"/>
            <a:ext cx="5760720" cy="579120"/>
          </a:xfrm>
          <a:prstGeom prst="rect">
            <a:avLst/>
          </a:prstGeom>
          <a:noFill/>
          <a:ln/>
        </p:spPr>
        <p:txBody>
          <a:bodyPr wrap="square" lIns="0" tIns="0" rIns="0" bIns="0" rtlCol="0" anchor="ctr"/>
          <a:lstStyle/>
          <a:p>
            <a:pPr marL="0" indent="0">
              <a:buNone/>
            </a:pPr>
            <a:r>
              <a:rPr lang="en-US" sz="1500" b="1" dirty="0">
                <a:solidFill>
                  <a:srgbClr val="9B1B30"/>
                </a:solidFill>
                <a:latin typeface="Calibri" pitchFamily="34" charset="0"/>
                <a:ea typeface="Calibri" pitchFamily="34" charset="-122"/>
                <a:cs typeface="Calibri" pitchFamily="34" charset="-120"/>
              </a:rPr>
              <a:t>Scanner Input  </a:t>
            </a:r>
            <a:r>
              <a:rPr lang="en-US" sz="1500" dirty="0">
                <a:solidFill>
                  <a:srgbClr val="2B2B33"/>
                </a:solidFill>
                <a:latin typeface="Calibri" pitchFamily="34" charset="0"/>
                <a:ea typeface="Calibri" pitchFamily="34" charset="-122"/>
                <a:cs typeface="Calibri" pitchFamily="34" charset="-120"/>
              </a:rPr>
              <a:t>donor details, blood group, menu choices</a:t>
            </a:r>
            <a:endParaRPr lang="en-US" sz="1500" dirty="0"/>
          </a:p>
        </p:txBody>
      </p:sp>
      <p:sp>
        <p:nvSpPr>
          <p:cNvPr id="14" name="Shape 11"/>
          <p:cNvSpPr/>
          <p:nvPr/>
        </p:nvSpPr>
        <p:spPr>
          <a:xfrm>
            <a:off x="7223760" y="1463040"/>
            <a:ext cx="4389120" cy="4617720"/>
          </a:xfrm>
          <a:prstGeom prst="roundRect">
            <a:avLst>
              <a:gd name="adj" fmla="val 2500"/>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15" name="Shape 12"/>
          <p:cNvSpPr/>
          <p:nvPr/>
        </p:nvSpPr>
        <p:spPr>
          <a:xfrm>
            <a:off x="7498080" y="1691640"/>
            <a:ext cx="1005840" cy="457200"/>
          </a:xfrm>
          <a:prstGeom prst="roundRect">
            <a:avLst>
              <a:gd name="adj" fmla="val 20000"/>
            </a:avLst>
          </a:prstGeom>
          <a:solidFill>
            <a:srgbClr val="9B1B30"/>
          </a:solidFill>
          <a:ln w="12700">
            <a:solidFill>
              <a:srgbClr val="9B1B30"/>
            </a:solidFill>
            <a:prstDash val="solid"/>
          </a:ln>
        </p:spPr>
      </p:sp>
      <p:sp>
        <p:nvSpPr>
          <p:cNvPr id="16" name="Text 13"/>
          <p:cNvSpPr txBox="1"/>
          <p:nvPr/>
        </p:nvSpPr>
        <p:spPr>
          <a:xfrm>
            <a:off x="7498080" y="1691640"/>
            <a:ext cx="100584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CO2</a:t>
            </a:r>
            <a:endParaRPr lang="en-US" sz="1800" dirty="0"/>
          </a:p>
        </p:txBody>
      </p:sp>
      <p:sp>
        <p:nvSpPr>
          <p:cNvPr id="17" name="Text 14"/>
          <p:cNvSpPr txBox="1"/>
          <p:nvPr/>
        </p:nvSpPr>
        <p:spPr>
          <a:xfrm>
            <a:off x="7543800" y="2331720"/>
            <a:ext cx="3749040" cy="640080"/>
          </a:xfrm>
          <a:prstGeom prst="rect">
            <a:avLst/>
          </a:prstGeom>
          <a:noFill/>
          <a:ln/>
        </p:spPr>
        <p:txBody>
          <a:bodyPr wrap="square" lIns="0" tIns="0" rIns="0" bIns="0" rtlCol="0" anchor="ctr"/>
          <a:lstStyle/>
          <a:p>
            <a:pPr marL="0" indent="0">
              <a:buNone/>
            </a:pPr>
            <a:r>
              <a:rPr lang="en-US" sz="1500" b="1" dirty="0">
                <a:solidFill>
                  <a:srgbClr val="9B1B30"/>
                </a:solidFill>
                <a:latin typeface="Calibri" pitchFamily="34" charset="0"/>
                <a:ea typeface="Calibri" pitchFamily="34" charset="-122"/>
                <a:cs typeface="Calibri" pitchFamily="34" charset="-120"/>
              </a:rPr>
              <a:t>if-else  </a:t>
            </a:r>
            <a:r>
              <a:rPr lang="en-US" sz="1500" dirty="0">
                <a:solidFill>
                  <a:srgbClr val="2B2B33"/>
                </a:solidFill>
                <a:latin typeface="Calibri" pitchFamily="34" charset="0"/>
                <a:ea typeface="Calibri" pitchFamily="34" charset="-122"/>
                <a:cs typeface="Calibri" pitchFamily="34" charset="-120"/>
              </a:rPr>
              <a:t>check blood availability</a:t>
            </a:r>
            <a:endParaRPr lang="en-US" sz="1500" dirty="0"/>
          </a:p>
        </p:txBody>
      </p:sp>
      <p:sp>
        <p:nvSpPr>
          <p:cNvPr id="18" name="Text 15"/>
          <p:cNvSpPr txBox="1"/>
          <p:nvPr/>
        </p:nvSpPr>
        <p:spPr>
          <a:xfrm>
            <a:off x="7543800" y="3081528"/>
            <a:ext cx="3749040" cy="640080"/>
          </a:xfrm>
          <a:prstGeom prst="rect">
            <a:avLst/>
          </a:prstGeom>
          <a:noFill/>
          <a:ln/>
        </p:spPr>
        <p:txBody>
          <a:bodyPr wrap="square" lIns="0" tIns="0" rIns="0" bIns="0" rtlCol="0" anchor="ctr"/>
          <a:lstStyle/>
          <a:p>
            <a:pPr marL="0" indent="0">
              <a:buNone/>
            </a:pPr>
            <a:r>
              <a:rPr lang="en-US" sz="1500" b="1" dirty="0">
                <a:solidFill>
                  <a:srgbClr val="9B1B30"/>
                </a:solidFill>
                <a:latin typeface="Calibri" pitchFamily="34" charset="0"/>
                <a:ea typeface="Calibri" pitchFamily="34" charset="-122"/>
                <a:cs typeface="Calibri" pitchFamily="34" charset="-120"/>
              </a:rPr>
              <a:t>switch  </a:t>
            </a:r>
            <a:r>
              <a:rPr lang="en-US" sz="1500" dirty="0">
                <a:solidFill>
                  <a:srgbClr val="2B2B33"/>
                </a:solidFill>
                <a:latin typeface="Calibri" pitchFamily="34" charset="0"/>
                <a:ea typeface="Calibri" pitchFamily="34" charset="-122"/>
                <a:cs typeface="Calibri" pitchFamily="34" charset="-120"/>
              </a:rPr>
              <a:t>menu and blood-group selection</a:t>
            </a:r>
            <a:endParaRPr lang="en-US" sz="1500" dirty="0"/>
          </a:p>
        </p:txBody>
      </p:sp>
      <p:sp>
        <p:nvSpPr>
          <p:cNvPr id="19" name="Text 16"/>
          <p:cNvSpPr txBox="1"/>
          <p:nvPr/>
        </p:nvSpPr>
        <p:spPr>
          <a:xfrm>
            <a:off x="7543800" y="3831336"/>
            <a:ext cx="3749040" cy="640080"/>
          </a:xfrm>
          <a:prstGeom prst="rect">
            <a:avLst/>
          </a:prstGeom>
          <a:noFill/>
          <a:ln/>
        </p:spPr>
        <p:txBody>
          <a:bodyPr wrap="square" lIns="0" tIns="0" rIns="0" bIns="0" rtlCol="0" anchor="ctr"/>
          <a:lstStyle/>
          <a:p>
            <a:pPr marL="0" indent="0">
              <a:buNone/>
            </a:pPr>
            <a:r>
              <a:rPr lang="en-US" sz="1500" b="1" dirty="0">
                <a:solidFill>
                  <a:srgbClr val="9B1B30"/>
                </a:solidFill>
                <a:latin typeface="Calibri" pitchFamily="34" charset="0"/>
                <a:ea typeface="Calibri" pitchFamily="34" charset="-122"/>
                <a:cs typeface="Calibri" pitchFamily="34" charset="-120"/>
              </a:rPr>
              <a:t>while  </a:t>
            </a:r>
            <a:r>
              <a:rPr lang="en-US" sz="1500" dirty="0">
                <a:solidFill>
                  <a:srgbClr val="2B2B33"/>
                </a:solidFill>
                <a:latin typeface="Calibri" pitchFamily="34" charset="0"/>
                <a:ea typeface="Calibri" pitchFamily="34" charset="-122"/>
                <a:cs typeface="Calibri" pitchFamily="34" charset="-120"/>
              </a:rPr>
              <a:t>continuously display the menu</a:t>
            </a:r>
            <a:endParaRPr lang="en-US" sz="1500" dirty="0"/>
          </a:p>
        </p:txBody>
      </p:sp>
      <p:sp>
        <p:nvSpPr>
          <p:cNvPr id="20" name="Text 17"/>
          <p:cNvSpPr txBox="1"/>
          <p:nvPr/>
        </p:nvSpPr>
        <p:spPr>
          <a:xfrm>
            <a:off x="7543800" y="4581144"/>
            <a:ext cx="3749040" cy="640080"/>
          </a:xfrm>
          <a:prstGeom prst="rect">
            <a:avLst/>
          </a:prstGeom>
          <a:noFill/>
          <a:ln/>
        </p:spPr>
        <p:txBody>
          <a:bodyPr wrap="square" lIns="0" tIns="0" rIns="0" bIns="0" rtlCol="0" anchor="ctr"/>
          <a:lstStyle/>
          <a:p>
            <a:pPr marL="0" indent="0">
              <a:buNone/>
            </a:pPr>
            <a:r>
              <a:rPr lang="en-US" sz="1500" b="1" dirty="0">
                <a:solidFill>
                  <a:srgbClr val="9B1B30"/>
                </a:solidFill>
                <a:latin typeface="Calibri" pitchFamily="34" charset="0"/>
                <a:ea typeface="Calibri" pitchFamily="34" charset="-122"/>
                <a:cs typeface="Calibri" pitchFamily="34" charset="-120"/>
              </a:rPr>
              <a:t>for  </a:t>
            </a:r>
            <a:r>
              <a:rPr lang="en-US" sz="1500" dirty="0">
                <a:solidFill>
                  <a:srgbClr val="2B2B33"/>
                </a:solidFill>
                <a:latin typeface="Calibri" pitchFamily="34" charset="0"/>
                <a:ea typeface="Calibri" pitchFamily="34" charset="-122"/>
                <a:cs typeface="Calibri" pitchFamily="34" charset="-120"/>
              </a:rPr>
              <a:t>display blood-stock records</a:t>
            </a:r>
            <a:endParaRPr lang="en-US" sz="1500" dirty="0"/>
          </a:p>
        </p:txBody>
      </p:sp>
      <p:sp>
        <p:nvSpPr>
          <p:cNvPr id="21" name="Text 18"/>
          <p:cNvSpPr txBox="1"/>
          <p:nvPr/>
        </p:nvSpPr>
        <p:spPr>
          <a:xfrm>
            <a:off x="11247120" y="6355080"/>
            <a:ext cx="548640" cy="274320"/>
          </a:xfrm>
          <a:prstGeom prst="rect">
            <a:avLst/>
          </a:prstGeom>
          <a:noFill/>
          <a:ln/>
        </p:spPr>
        <p:txBody>
          <a:bodyPr wrap="square" lIns="0" tIns="0" rIns="0" bIns="0" rtlCol="0" anchor="ctr"/>
          <a:lstStyle/>
          <a:p>
            <a:pPr marL="0" indent="0" algn="r">
              <a:buNone/>
            </a:pPr>
            <a:r>
              <a:rPr lang="en-US" sz="1200" dirty="0">
                <a:solidFill>
                  <a:srgbClr val="6B5B5F"/>
                </a:solidFill>
                <a:latin typeface="Calibri" pitchFamily="34" charset="0"/>
                <a:ea typeface="Calibri" pitchFamily="34" charset="-122"/>
                <a:cs typeface="Calibri"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name="Slide 9">
    <p:bg>
      <p:bgPr>
        <a:solidFill>
          <a:srgbClr val="FBF3F4"/>
        </a:solidFill>
        <a:effectLst/>
      </p:bgPr>
    </p:bg>
    <p:spTree>
      <p:nvGrpSpPr>
        <p:cNvPr id="1" name=""/>
        <p:cNvGrpSpPr/>
        <p:nvPr/>
      </p:nvGrpSpPr>
      <p:grpSpPr>
        <a:xfrm>
          <a:off x="0" y="0"/>
          <a:ext cx="0" cy="0"/>
          <a:chOff x="0" y="0"/>
          <a:chExt cx="0" cy="0"/>
        </a:xfrm>
      </p:grpSpPr>
      <p:sp>
        <p:nvSpPr>
          <p:cNvPr id="2" name="Shape 0"/>
          <p:cNvSpPr/>
          <p:nvPr/>
        </p:nvSpPr>
        <p:spPr>
          <a:xfrm>
            <a:off x="548640" y="411480"/>
            <a:ext cx="731520" cy="731520"/>
          </a:xfrm>
          <a:prstGeom prst="ellipse">
            <a:avLst/>
          </a:prstGeom>
          <a:solidFill>
            <a:srgbClr val="9B1B30"/>
          </a:solidFill>
          <a:ln w="12700">
            <a:solidFill>
              <a:srgbClr val="9B1B30"/>
            </a:solidFill>
            <a:prstDash val="solid"/>
          </a:ln>
        </p:spPr>
      </p:sp>
      <p:pic>
        <p:nvPicPr>
          <p:cNvPr id="3" name="Image 0" descr="preencoded.png"/>
          <p:cNvPicPr>
            <a:picLocks noChangeAspect="1"/>
          </p:cNvPicPr>
          <p:nvPr/>
        </p:nvPicPr>
        <p:blipFill>
          <a:blip r:embed="rId3"/>
          <a:stretch>
            <a:fillRect/>
          </a:stretch>
        </p:blipFill>
        <p:spPr>
          <a:xfrm>
            <a:off x="731520" y="594360"/>
            <a:ext cx="365760" cy="365760"/>
          </a:xfrm>
          <a:prstGeom prst="rect">
            <a:avLst/>
          </a:prstGeom>
        </p:spPr>
      </p:pic>
      <p:sp>
        <p:nvSpPr>
          <p:cNvPr id="4" name="Text 1"/>
          <p:cNvSpPr txBox="1"/>
          <p:nvPr/>
        </p:nvSpPr>
        <p:spPr>
          <a:xfrm>
            <a:off x="1463040" y="411480"/>
            <a:ext cx="9601200" cy="731520"/>
          </a:xfrm>
          <a:prstGeom prst="rect">
            <a:avLst/>
          </a:prstGeom>
          <a:noFill/>
          <a:ln/>
        </p:spPr>
        <p:txBody>
          <a:bodyPr wrap="square" lIns="0" tIns="0" rIns="0" bIns="0" rtlCol="0" anchor="ctr"/>
          <a:lstStyle/>
          <a:p>
            <a:pPr marL="0" indent="0">
              <a:buNone/>
            </a:pPr>
            <a:r>
              <a:rPr lang="en-US" sz="3600" b="1" dirty="0">
                <a:solidFill>
                  <a:srgbClr val="3A0A14"/>
                </a:solidFill>
                <a:latin typeface="Cambria" pitchFamily="34" charset="0"/>
                <a:ea typeface="Cambria" pitchFamily="34" charset="-122"/>
                <a:cs typeface="Cambria" pitchFamily="34" charset="-120"/>
              </a:rPr>
              <a:t>CO3 ATTAINMENTS</a:t>
            </a:r>
            <a:endParaRPr lang="en-US" sz="3600" dirty="0"/>
          </a:p>
        </p:txBody>
      </p:sp>
      <p:sp>
        <p:nvSpPr>
          <p:cNvPr id="5" name="Shape 2"/>
          <p:cNvSpPr/>
          <p:nvPr/>
        </p:nvSpPr>
        <p:spPr>
          <a:xfrm>
            <a:off x="548640" y="1554480"/>
            <a:ext cx="5440680" cy="4480560"/>
          </a:xfrm>
          <a:prstGeom prst="roundRect">
            <a:avLst>
              <a:gd name="adj" fmla="val 2449"/>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6" name="Shape 3"/>
          <p:cNvSpPr/>
          <p:nvPr/>
        </p:nvSpPr>
        <p:spPr>
          <a:xfrm>
            <a:off x="960120" y="1920240"/>
            <a:ext cx="1005840" cy="1005840"/>
          </a:xfrm>
          <a:prstGeom prst="ellipse">
            <a:avLst/>
          </a:prstGeom>
          <a:solidFill>
            <a:srgbClr val="9B1B30"/>
          </a:solidFill>
          <a:ln w="12700">
            <a:solidFill>
              <a:srgbClr val="9B1B30"/>
            </a:solidFill>
            <a:prstDash val="solid"/>
          </a:ln>
        </p:spPr>
      </p:sp>
      <p:pic>
        <p:nvPicPr>
          <p:cNvPr id="7" name="Image 1" descr="preencoded.png"/>
          <p:cNvPicPr>
            <a:picLocks noChangeAspect="1"/>
          </p:cNvPicPr>
          <p:nvPr/>
        </p:nvPicPr>
        <p:blipFill>
          <a:blip r:embed="rId4"/>
          <a:stretch>
            <a:fillRect/>
          </a:stretch>
        </p:blipFill>
        <p:spPr>
          <a:xfrm>
            <a:off x="1211580" y="2171700"/>
            <a:ext cx="502920" cy="502920"/>
          </a:xfrm>
          <a:prstGeom prst="rect">
            <a:avLst/>
          </a:prstGeom>
        </p:spPr>
      </p:pic>
      <p:sp>
        <p:nvSpPr>
          <p:cNvPr id="8" name="Text 4"/>
          <p:cNvSpPr txBox="1"/>
          <p:nvPr/>
        </p:nvSpPr>
        <p:spPr>
          <a:xfrm>
            <a:off x="2194560" y="1920240"/>
            <a:ext cx="3474720" cy="1005840"/>
          </a:xfrm>
          <a:prstGeom prst="rect">
            <a:avLst/>
          </a:prstGeom>
          <a:noFill/>
          <a:ln/>
        </p:spPr>
        <p:txBody>
          <a:bodyPr wrap="square" lIns="0" tIns="0" rIns="0" bIns="0" rtlCol="0" anchor="ctr"/>
          <a:lstStyle/>
          <a:p>
            <a:pPr marL="0" indent="0">
              <a:buNone/>
            </a:pPr>
            <a:r>
              <a:rPr lang="en-US" sz="2800" b="1" dirty="0">
                <a:solidFill>
                  <a:srgbClr val="3A0A14"/>
                </a:solidFill>
                <a:latin typeface="Cambria" pitchFamily="34" charset="0"/>
                <a:ea typeface="Cambria" pitchFamily="34" charset="-122"/>
                <a:cs typeface="Cambria" pitchFamily="34" charset="-120"/>
              </a:rPr>
              <a:t>Arrays</a:t>
            </a:r>
            <a:endParaRPr lang="en-US" sz="2800" dirty="0"/>
          </a:p>
        </p:txBody>
      </p:sp>
      <p:sp>
        <p:nvSpPr>
          <p:cNvPr id="9" name="Text 5"/>
          <p:cNvSpPr txBox="1"/>
          <p:nvPr/>
        </p:nvSpPr>
        <p:spPr>
          <a:xfrm>
            <a:off x="960120" y="3200400"/>
            <a:ext cx="4617720" cy="2560320"/>
          </a:xfrm>
          <a:prstGeom prst="rect">
            <a:avLst/>
          </a:prstGeom>
          <a:noFill/>
          <a:ln/>
        </p:spPr>
        <p:txBody>
          <a:bodyPr wrap="square" lIns="0" tIns="0" rIns="0" bIns="0" rtlCol="0" anchor="t"/>
          <a:lstStyle/>
          <a:p>
            <a:pPr marL="0" indent="0">
              <a:buNone/>
            </a:pPr>
            <a:r>
              <a:rPr lang="en-US" sz="2000" dirty="0">
                <a:solidFill>
                  <a:srgbClr val="2B2B33"/>
                </a:solidFill>
                <a:latin typeface="Calibri" pitchFamily="34" charset="0"/>
                <a:ea typeface="Calibri" pitchFamily="34" charset="-122"/>
                <a:cs typeface="Calibri" pitchFamily="34" charset="-120"/>
              </a:rPr>
              <a:t>Blood Groups stores the blood group names, and Blood Stock stores the number of units for each group.</a:t>
            </a:r>
            <a:endParaRPr lang="en-US" sz="2000" dirty="0"/>
          </a:p>
        </p:txBody>
      </p:sp>
      <p:sp>
        <p:nvSpPr>
          <p:cNvPr id="10" name="Shape 6"/>
          <p:cNvSpPr/>
          <p:nvPr/>
        </p:nvSpPr>
        <p:spPr>
          <a:xfrm>
            <a:off x="6172200" y="1554480"/>
            <a:ext cx="5440680" cy="4480560"/>
          </a:xfrm>
          <a:prstGeom prst="roundRect">
            <a:avLst>
              <a:gd name="adj" fmla="val 2449"/>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11" name="Shape 7"/>
          <p:cNvSpPr/>
          <p:nvPr/>
        </p:nvSpPr>
        <p:spPr>
          <a:xfrm>
            <a:off x="6583680" y="1920240"/>
            <a:ext cx="1005840" cy="1005840"/>
          </a:xfrm>
          <a:prstGeom prst="ellipse">
            <a:avLst/>
          </a:prstGeom>
          <a:solidFill>
            <a:srgbClr val="9B1B30"/>
          </a:solidFill>
          <a:ln w="12700">
            <a:solidFill>
              <a:srgbClr val="9B1B30"/>
            </a:solidFill>
            <a:prstDash val="solid"/>
          </a:ln>
        </p:spPr>
      </p:sp>
      <p:pic>
        <p:nvPicPr>
          <p:cNvPr id="12" name="Image 2" descr="preencoded.png"/>
          <p:cNvPicPr>
            <a:picLocks noChangeAspect="1"/>
          </p:cNvPicPr>
          <p:nvPr/>
        </p:nvPicPr>
        <p:blipFill>
          <a:blip r:embed="rId5"/>
          <a:stretch>
            <a:fillRect/>
          </a:stretch>
        </p:blipFill>
        <p:spPr>
          <a:xfrm>
            <a:off x="6835140" y="2171700"/>
            <a:ext cx="502920" cy="502920"/>
          </a:xfrm>
          <a:prstGeom prst="rect">
            <a:avLst/>
          </a:prstGeom>
        </p:spPr>
      </p:pic>
      <p:sp>
        <p:nvSpPr>
          <p:cNvPr id="13" name="Text 8"/>
          <p:cNvSpPr txBox="1"/>
          <p:nvPr/>
        </p:nvSpPr>
        <p:spPr>
          <a:xfrm>
            <a:off x="7818120" y="1920240"/>
            <a:ext cx="3474720" cy="1005840"/>
          </a:xfrm>
          <a:prstGeom prst="rect">
            <a:avLst/>
          </a:prstGeom>
          <a:noFill/>
          <a:ln/>
        </p:spPr>
        <p:txBody>
          <a:bodyPr wrap="square" lIns="0" tIns="0" rIns="0" bIns="0" rtlCol="0" anchor="ctr"/>
          <a:lstStyle/>
          <a:p>
            <a:pPr marL="0" indent="0">
              <a:buNone/>
            </a:pPr>
            <a:r>
              <a:rPr lang="en-US" sz="2800" b="1" dirty="0">
                <a:solidFill>
                  <a:srgbClr val="3A0A14"/>
                </a:solidFill>
                <a:latin typeface="Cambria" pitchFamily="34" charset="0"/>
                <a:ea typeface="Cambria" pitchFamily="34" charset="-122"/>
                <a:cs typeface="Cambria" pitchFamily="34" charset="-120"/>
              </a:rPr>
              <a:t>Methods</a:t>
            </a:r>
            <a:endParaRPr lang="en-US" sz="2800" dirty="0"/>
          </a:p>
        </p:txBody>
      </p:sp>
      <p:sp>
        <p:nvSpPr>
          <p:cNvPr id="14" name="Text 9"/>
          <p:cNvSpPr txBox="1"/>
          <p:nvPr/>
        </p:nvSpPr>
        <p:spPr>
          <a:xfrm>
            <a:off x="6583680" y="3200400"/>
            <a:ext cx="4617720" cy="2560320"/>
          </a:xfrm>
          <a:prstGeom prst="rect">
            <a:avLst/>
          </a:prstGeom>
          <a:noFill/>
          <a:ln/>
        </p:spPr>
        <p:txBody>
          <a:bodyPr wrap="square" lIns="0" tIns="0" rIns="0" bIns="0" rtlCol="0" anchor="t"/>
          <a:lstStyle/>
          <a:p>
            <a:pPr marL="0" indent="0">
              <a:buNone/>
            </a:pPr>
            <a:r>
              <a:rPr lang="en-US" sz="2000" dirty="0">
                <a:solidFill>
                  <a:srgbClr val="2B2B33"/>
                </a:solidFill>
                <a:latin typeface="Calibri" pitchFamily="34" charset="0"/>
                <a:ea typeface="Calibri" pitchFamily="34" charset="-122"/>
                <a:cs typeface="Calibri" pitchFamily="34" charset="-120"/>
              </a:rPr>
              <a:t>main, registerDonor, checkBloodAvailability, selectBloodGroup, displayBloodStock, readInt and readDouble split the program into tasks.</a:t>
            </a:r>
            <a:endParaRPr lang="en-US" sz="2000" dirty="0"/>
          </a:p>
        </p:txBody>
      </p:sp>
      <p:sp>
        <p:nvSpPr>
          <p:cNvPr id="15" name="Text 10"/>
          <p:cNvSpPr txBox="1"/>
          <p:nvPr/>
        </p:nvSpPr>
        <p:spPr>
          <a:xfrm>
            <a:off x="11247120" y="6355080"/>
            <a:ext cx="548640" cy="274320"/>
          </a:xfrm>
          <a:prstGeom prst="rect">
            <a:avLst/>
          </a:prstGeom>
          <a:noFill/>
          <a:ln/>
        </p:spPr>
        <p:txBody>
          <a:bodyPr wrap="square" lIns="0" tIns="0" rIns="0" bIns="0" rtlCol="0" anchor="ctr"/>
          <a:lstStyle/>
          <a:p>
            <a:pPr marL="0" indent="0" algn="r">
              <a:buNone/>
            </a:pPr>
            <a:r>
              <a:rPr lang="en-US" sz="1200" dirty="0">
                <a:solidFill>
                  <a:srgbClr val="6B5B5F"/>
                </a:solidFill>
                <a:latin typeface="Calibri" pitchFamily="34" charset="0"/>
                <a:ea typeface="Calibri" pitchFamily="34" charset="-122"/>
                <a:cs typeface="Calibri"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name="Slide 10">
    <p:bg>
      <p:bgPr>
        <a:solidFill>
          <a:srgbClr val="FBF3F4"/>
        </a:solidFill>
        <a:effectLst/>
      </p:bgPr>
    </p:bg>
    <p:spTree>
      <p:nvGrpSpPr>
        <p:cNvPr id="1" name=""/>
        <p:cNvGrpSpPr/>
        <p:nvPr/>
      </p:nvGrpSpPr>
      <p:grpSpPr>
        <a:xfrm>
          <a:off x="0" y="0"/>
          <a:ext cx="0" cy="0"/>
          <a:chOff x="0" y="0"/>
          <a:chExt cx="0" cy="0"/>
        </a:xfrm>
      </p:grpSpPr>
      <p:sp>
        <p:nvSpPr>
          <p:cNvPr id="2" name="Shape 0"/>
          <p:cNvSpPr/>
          <p:nvPr/>
        </p:nvSpPr>
        <p:spPr>
          <a:xfrm>
            <a:off x="548640" y="411480"/>
            <a:ext cx="731520" cy="731520"/>
          </a:xfrm>
          <a:prstGeom prst="ellipse">
            <a:avLst/>
          </a:prstGeom>
          <a:solidFill>
            <a:srgbClr val="9B1B30"/>
          </a:solidFill>
          <a:ln w="12700">
            <a:solidFill>
              <a:srgbClr val="9B1B30"/>
            </a:solidFill>
            <a:prstDash val="solid"/>
          </a:ln>
        </p:spPr>
      </p:sp>
      <p:pic>
        <p:nvPicPr>
          <p:cNvPr id="3" name="Image 0" descr="preencoded.png"/>
          <p:cNvPicPr>
            <a:picLocks noChangeAspect="1"/>
          </p:cNvPicPr>
          <p:nvPr/>
        </p:nvPicPr>
        <p:blipFill>
          <a:blip r:embed="rId3"/>
          <a:stretch>
            <a:fillRect/>
          </a:stretch>
        </p:blipFill>
        <p:spPr>
          <a:xfrm>
            <a:off x="731520" y="594360"/>
            <a:ext cx="365760" cy="365760"/>
          </a:xfrm>
          <a:prstGeom prst="rect">
            <a:avLst/>
          </a:prstGeom>
        </p:spPr>
      </p:pic>
      <p:sp>
        <p:nvSpPr>
          <p:cNvPr id="4" name="Text 1"/>
          <p:cNvSpPr txBox="1"/>
          <p:nvPr/>
        </p:nvSpPr>
        <p:spPr>
          <a:xfrm>
            <a:off x="1463040" y="411480"/>
            <a:ext cx="9601200" cy="731520"/>
          </a:xfrm>
          <a:prstGeom prst="rect">
            <a:avLst/>
          </a:prstGeom>
          <a:noFill/>
          <a:ln/>
        </p:spPr>
        <p:txBody>
          <a:bodyPr wrap="square" lIns="0" tIns="0" rIns="0" bIns="0" rtlCol="0" anchor="ctr"/>
          <a:lstStyle/>
          <a:p>
            <a:pPr marL="0" indent="0">
              <a:buNone/>
            </a:pPr>
            <a:r>
              <a:rPr lang="en-US" sz="3600" b="1" dirty="0">
                <a:solidFill>
                  <a:srgbClr val="3A0A14"/>
                </a:solidFill>
                <a:latin typeface="Cambria" pitchFamily="34" charset="0"/>
                <a:ea typeface="Cambria" pitchFamily="34" charset="-122"/>
                <a:cs typeface="Cambria" pitchFamily="34" charset="-120"/>
              </a:rPr>
              <a:t>CO4 ATTAINMENTS</a:t>
            </a:r>
            <a:endParaRPr lang="en-US" sz="3600" dirty="0"/>
          </a:p>
        </p:txBody>
      </p:sp>
      <p:sp>
        <p:nvSpPr>
          <p:cNvPr id="5" name="Shape 2"/>
          <p:cNvSpPr/>
          <p:nvPr/>
        </p:nvSpPr>
        <p:spPr>
          <a:xfrm>
            <a:off x="548640" y="1508760"/>
            <a:ext cx="3566160" cy="2103120"/>
          </a:xfrm>
          <a:prstGeom prst="roundRect">
            <a:avLst>
              <a:gd name="adj" fmla="val 5217"/>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6" name="Shape 3"/>
          <p:cNvSpPr/>
          <p:nvPr/>
        </p:nvSpPr>
        <p:spPr>
          <a:xfrm>
            <a:off x="822960" y="1783080"/>
            <a:ext cx="640080" cy="640080"/>
          </a:xfrm>
          <a:prstGeom prst="ellipse">
            <a:avLst/>
          </a:prstGeom>
          <a:solidFill>
            <a:srgbClr val="9B1B30"/>
          </a:solidFill>
          <a:ln w="12700">
            <a:solidFill>
              <a:srgbClr val="9B1B30"/>
            </a:solidFill>
            <a:prstDash val="solid"/>
          </a:ln>
        </p:spPr>
      </p:sp>
      <p:pic>
        <p:nvPicPr>
          <p:cNvPr id="7" name="Image 1" descr="preencoded.png"/>
          <p:cNvPicPr>
            <a:picLocks noChangeAspect="1"/>
          </p:cNvPicPr>
          <p:nvPr/>
        </p:nvPicPr>
        <p:blipFill>
          <a:blip r:embed="rId4"/>
          <a:stretch>
            <a:fillRect/>
          </a:stretch>
        </p:blipFill>
        <p:spPr>
          <a:xfrm>
            <a:off x="982980" y="1943100"/>
            <a:ext cx="320040" cy="320040"/>
          </a:xfrm>
          <a:prstGeom prst="rect">
            <a:avLst/>
          </a:prstGeom>
        </p:spPr>
      </p:pic>
      <p:sp>
        <p:nvSpPr>
          <p:cNvPr id="8" name="Text 4"/>
          <p:cNvSpPr txBox="1"/>
          <p:nvPr/>
        </p:nvSpPr>
        <p:spPr>
          <a:xfrm>
            <a:off x="1600200" y="1783080"/>
            <a:ext cx="2377440" cy="640080"/>
          </a:xfrm>
          <a:prstGeom prst="rect">
            <a:avLst/>
          </a:prstGeom>
          <a:noFill/>
          <a:ln/>
        </p:spPr>
        <p:txBody>
          <a:bodyPr wrap="square" lIns="0" tIns="0" rIns="0" bIns="0" rtlCol="0" anchor="ctr"/>
          <a:lstStyle/>
          <a:p>
            <a:pPr marL="0" indent="0">
              <a:buNone/>
            </a:pPr>
            <a:r>
              <a:rPr lang="en-US" sz="1700" b="1" dirty="0">
                <a:solidFill>
                  <a:srgbClr val="3A0A14"/>
                </a:solidFill>
                <a:latin typeface="Cambria" pitchFamily="34" charset="0"/>
                <a:ea typeface="Cambria" pitchFamily="34" charset="-122"/>
                <a:cs typeface="Cambria" pitchFamily="34" charset="-120"/>
              </a:rPr>
              <a:t>Classes &amp; Objects</a:t>
            </a:r>
            <a:endParaRPr lang="en-US" sz="1700" dirty="0"/>
          </a:p>
        </p:txBody>
      </p:sp>
      <p:sp>
        <p:nvSpPr>
          <p:cNvPr id="9" name="Text 5"/>
          <p:cNvSpPr txBox="1"/>
          <p:nvPr/>
        </p:nvSpPr>
        <p:spPr>
          <a:xfrm>
            <a:off x="822960" y="2560320"/>
            <a:ext cx="3063240" cy="914400"/>
          </a:xfrm>
          <a:prstGeom prst="rect">
            <a:avLst/>
          </a:prstGeom>
          <a:noFill/>
          <a:ln/>
        </p:spPr>
        <p:txBody>
          <a:bodyPr wrap="square" lIns="0" tIns="0" rIns="0" bIns="0" rtlCol="0" anchor="t"/>
          <a:lstStyle/>
          <a:p>
            <a:pPr marL="0" indent="0">
              <a:buNone/>
            </a:pPr>
            <a:r>
              <a:rPr lang="en-US" sz="1400" dirty="0">
                <a:solidFill>
                  <a:srgbClr val="2B2B33"/>
                </a:solidFill>
                <a:latin typeface="Calibri" pitchFamily="34" charset="0"/>
                <a:ea typeface="Calibri" pitchFamily="34" charset="-122"/>
                <a:cs typeface="Calibri" pitchFamily="34" charset="-120"/>
              </a:rPr>
              <a:t>Donor, Inventory, BloodBankSystem</a:t>
            </a:r>
            <a:endParaRPr lang="en-US" sz="1400" dirty="0"/>
          </a:p>
        </p:txBody>
      </p:sp>
      <p:sp>
        <p:nvSpPr>
          <p:cNvPr id="10" name="Shape 6"/>
          <p:cNvSpPr/>
          <p:nvPr/>
        </p:nvSpPr>
        <p:spPr>
          <a:xfrm>
            <a:off x="4297680" y="1508760"/>
            <a:ext cx="3566160" cy="2103120"/>
          </a:xfrm>
          <a:prstGeom prst="roundRect">
            <a:avLst>
              <a:gd name="adj" fmla="val 5217"/>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11" name="Shape 7"/>
          <p:cNvSpPr/>
          <p:nvPr/>
        </p:nvSpPr>
        <p:spPr>
          <a:xfrm>
            <a:off x="4572000" y="1783080"/>
            <a:ext cx="640080" cy="640080"/>
          </a:xfrm>
          <a:prstGeom prst="ellipse">
            <a:avLst/>
          </a:prstGeom>
          <a:solidFill>
            <a:srgbClr val="9B1B30"/>
          </a:solidFill>
          <a:ln w="12700">
            <a:solidFill>
              <a:srgbClr val="9B1B30"/>
            </a:solidFill>
            <a:prstDash val="solid"/>
          </a:ln>
        </p:spPr>
      </p:sp>
      <p:pic>
        <p:nvPicPr>
          <p:cNvPr id="12" name="Image 2" descr="preencoded.png"/>
          <p:cNvPicPr>
            <a:picLocks noChangeAspect="1"/>
          </p:cNvPicPr>
          <p:nvPr/>
        </p:nvPicPr>
        <p:blipFill>
          <a:blip r:embed="rId5"/>
          <a:stretch>
            <a:fillRect/>
          </a:stretch>
        </p:blipFill>
        <p:spPr>
          <a:xfrm>
            <a:off x="4732020" y="1943100"/>
            <a:ext cx="320040" cy="320040"/>
          </a:xfrm>
          <a:prstGeom prst="rect">
            <a:avLst/>
          </a:prstGeom>
        </p:spPr>
      </p:pic>
      <p:sp>
        <p:nvSpPr>
          <p:cNvPr id="13" name="Text 8"/>
          <p:cNvSpPr txBox="1"/>
          <p:nvPr/>
        </p:nvSpPr>
        <p:spPr>
          <a:xfrm>
            <a:off x="5349240" y="1783080"/>
            <a:ext cx="2377440" cy="640080"/>
          </a:xfrm>
          <a:prstGeom prst="rect">
            <a:avLst/>
          </a:prstGeom>
          <a:noFill/>
          <a:ln/>
        </p:spPr>
        <p:txBody>
          <a:bodyPr wrap="square" lIns="0" tIns="0" rIns="0" bIns="0" rtlCol="0" anchor="ctr"/>
          <a:lstStyle/>
          <a:p>
            <a:pPr marL="0" indent="0">
              <a:buNone/>
            </a:pPr>
            <a:r>
              <a:rPr lang="en-US" sz="1700" b="1" dirty="0">
                <a:solidFill>
                  <a:srgbClr val="3A0A14"/>
                </a:solidFill>
                <a:latin typeface="Cambria" pitchFamily="34" charset="0"/>
                <a:ea typeface="Cambria" pitchFamily="34" charset="-122"/>
                <a:cs typeface="Cambria" pitchFamily="34" charset="-120"/>
              </a:rPr>
              <a:t>Constructors</a:t>
            </a:r>
            <a:endParaRPr lang="en-US" sz="1700" dirty="0"/>
          </a:p>
        </p:txBody>
      </p:sp>
      <p:sp>
        <p:nvSpPr>
          <p:cNvPr id="14" name="Text 9"/>
          <p:cNvSpPr txBox="1"/>
          <p:nvPr/>
        </p:nvSpPr>
        <p:spPr>
          <a:xfrm>
            <a:off x="4572000" y="2560320"/>
            <a:ext cx="3063240" cy="914400"/>
          </a:xfrm>
          <a:prstGeom prst="rect">
            <a:avLst/>
          </a:prstGeom>
          <a:noFill/>
          <a:ln/>
        </p:spPr>
        <p:txBody>
          <a:bodyPr wrap="square" lIns="0" tIns="0" rIns="0" bIns="0" rtlCol="0" anchor="t"/>
          <a:lstStyle/>
          <a:p>
            <a:pPr marL="0" indent="0">
              <a:buNone/>
            </a:pPr>
            <a:r>
              <a:rPr lang="en-US" sz="1400" dirty="0">
                <a:solidFill>
                  <a:srgbClr val="2B2B33"/>
                </a:solidFill>
                <a:latin typeface="Calibri" pitchFamily="34" charset="0"/>
                <a:ea typeface="Calibri" pitchFamily="34" charset="-122"/>
                <a:cs typeface="Calibri" pitchFamily="34" charset="-120"/>
              </a:rPr>
              <a:t>Donor(String name, String bloodGroup, int age)</a:t>
            </a:r>
            <a:endParaRPr lang="en-US" sz="1400" dirty="0"/>
          </a:p>
        </p:txBody>
      </p:sp>
      <p:sp>
        <p:nvSpPr>
          <p:cNvPr id="15" name="Shape 10"/>
          <p:cNvSpPr/>
          <p:nvPr/>
        </p:nvSpPr>
        <p:spPr>
          <a:xfrm>
            <a:off x="8046720" y="1508760"/>
            <a:ext cx="3566160" cy="2103120"/>
          </a:xfrm>
          <a:prstGeom prst="roundRect">
            <a:avLst>
              <a:gd name="adj" fmla="val 5217"/>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16" name="Shape 11"/>
          <p:cNvSpPr/>
          <p:nvPr/>
        </p:nvSpPr>
        <p:spPr>
          <a:xfrm>
            <a:off x="8321040" y="1783080"/>
            <a:ext cx="640080" cy="640080"/>
          </a:xfrm>
          <a:prstGeom prst="ellipse">
            <a:avLst/>
          </a:prstGeom>
          <a:solidFill>
            <a:srgbClr val="9B1B30"/>
          </a:solidFill>
          <a:ln w="12700">
            <a:solidFill>
              <a:srgbClr val="9B1B30"/>
            </a:solidFill>
            <a:prstDash val="solid"/>
          </a:ln>
        </p:spPr>
      </p:sp>
      <p:pic>
        <p:nvPicPr>
          <p:cNvPr id="17" name="Image 3" descr="preencoded.png"/>
          <p:cNvPicPr>
            <a:picLocks noChangeAspect="1"/>
          </p:cNvPicPr>
          <p:nvPr/>
        </p:nvPicPr>
        <p:blipFill>
          <a:blip r:embed="rId3"/>
          <a:stretch>
            <a:fillRect/>
          </a:stretch>
        </p:blipFill>
        <p:spPr>
          <a:xfrm>
            <a:off x="8481060" y="1943100"/>
            <a:ext cx="320040" cy="320040"/>
          </a:xfrm>
          <a:prstGeom prst="rect">
            <a:avLst/>
          </a:prstGeom>
        </p:spPr>
      </p:pic>
      <p:sp>
        <p:nvSpPr>
          <p:cNvPr id="18" name="Text 12"/>
          <p:cNvSpPr txBox="1"/>
          <p:nvPr/>
        </p:nvSpPr>
        <p:spPr>
          <a:xfrm>
            <a:off x="9098280" y="1783080"/>
            <a:ext cx="2377440" cy="640080"/>
          </a:xfrm>
          <a:prstGeom prst="rect">
            <a:avLst/>
          </a:prstGeom>
          <a:noFill/>
          <a:ln/>
        </p:spPr>
        <p:txBody>
          <a:bodyPr wrap="square" lIns="0" tIns="0" rIns="0" bIns="0" rtlCol="0" anchor="ctr"/>
          <a:lstStyle/>
          <a:p>
            <a:pPr marL="0" indent="0">
              <a:buNone/>
            </a:pPr>
            <a:r>
              <a:rPr lang="en-US" sz="1700" b="1" dirty="0">
                <a:solidFill>
                  <a:srgbClr val="3A0A14"/>
                </a:solidFill>
                <a:latin typeface="Cambria" pitchFamily="34" charset="0"/>
                <a:ea typeface="Cambria" pitchFamily="34" charset="-122"/>
                <a:cs typeface="Cambria" pitchFamily="34" charset="-120"/>
              </a:rPr>
              <a:t>Encapsulation</a:t>
            </a:r>
            <a:endParaRPr lang="en-US" sz="1700" dirty="0"/>
          </a:p>
        </p:txBody>
      </p:sp>
      <p:sp>
        <p:nvSpPr>
          <p:cNvPr id="19" name="Text 13"/>
          <p:cNvSpPr txBox="1"/>
          <p:nvPr/>
        </p:nvSpPr>
        <p:spPr>
          <a:xfrm>
            <a:off x="8321040" y="2560320"/>
            <a:ext cx="3063240" cy="914400"/>
          </a:xfrm>
          <a:prstGeom prst="rect">
            <a:avLst/>
          </a:prstGeom>
          <a:noFill/>
          <a:ln/>
        </p:spPr>
        <p:txBody>
          <a:bodyPr wrap="square" lIns="0" tIns="0" rIns="0" bIns="0" rtlCol="0" anchor="t"/>
          <a:lstStyle/>
          <a:p>
            <a:pPr marL="0" indent="0">
              <a:buNone/>
            </a:pPr>
            <a:r>
              <a:rPr lang="en-US" sz="1400" dirty="0">
                <a:solidFill>
                  <a:srgbClr val="2B2B33"/>
                </a:solidFill>
                <a:latin typeface="Calibri" pitchFamily="34" charset="0"/>
                <a:ea typeface="Calibri" pitchFamily="34" charset="-122"/>
                <a:cs typeface="Calibri" pitchFamily="34" charset="-120"/>
              </a:rPr>
              <a:t>Private fields (name, bloodGroup, age) with getters</a:t>
            </a:r>
            <a:endParaRPr lang="en-US" sz="1400" dirty="0"/>
          </a:p>
        </p:txBody>
      </p:sp>
      <p:sp>
        <p:nvSpPr>
          <p:cNvPr id="20" name="Shape 14"/>
          <p:cNvSpPr/>
          <p:nvPr/>
        </p:nvSpPr>
        <p:spPr>
          <a:xfrm>
            <a:off x="548640" y="3794760"/>
            <a:ext cx="3566160" cy="2103120"/>
          </a:xfrm>
          <a:prstGeom prst="roundRect">
            <a:avLst>
              <a:gd name="adj" fmla="val 5217"/>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21" name="Shape 15"/>
          <p:cNvSpPr/>
          <p:nvPr/>
        </p:nvSpPr>
        <p:spPr>
          <a:xfrm>
            <a:off x="822960" y="4069080"/>
            <a:ext cx="640080" cy="640080"/>
          </a:xfrm>
          <a:prstGeom prst="ellipse">
            <a:avLst/>
          </a:prstGeom>
          <a:solidFill>
            <a:srgbClr val="9B1B30"/>
          </a:solidFill>
          <a:ln w="12700">
            <a:solidFill>
              <a:srgbClr val="9B1B30"/>
            </a:solidFill>
            <a:prstDash val="solid"/>
          </a:ln>
        </p:spPr>
      </p:sp>
      <p:pic>
        <p:nvPicPr>
          <p:cNvPr id="22" name="Image 4" descr="preencoded.png"/>
          <p:cNvPicPr>
            <a:picLocks noChangeAspect="1"/>
          </p:cNvPicPr>
          <p:nvPr/>
        </p:nvPicPr>
        <p:blipFill>
          <a:blip r:embed="rId6"/>
          <a:stretch>
            <a:fillRect/>
          </a:stretch>
        </p:blipFill>
        <p:spPr>
          <a:xfrm>
            <a:off x="982980" y="4229100"/>
            <a:ext cx="320040" cy="320040"/>
          </a:xfrm>
          <a:prstGeom prst="rect">
            <a:avLst/>
          </a:prstGeom>
        </p:spPr>
      </p:pic>
      <p:sp>
        <p:nvSpPr>
          <p:cNvPr id="23" name="Text 16"/>
          <p:cNvSpPr txBox="1"/>
          <p:nvPr/>
        </p:nvSpPr>
        <p:spPr>
          <a:xfrm>
            <a:off x="1600200" y="4069080"/>
            <a:ext cx="2377440" cy="640080"/>
          </a:xfrm>
          <a:prstGeom prst="rect">
            <a:avLst/>
          </a:prstGeom>
          <a:noFill/>
          <a:ln/>
        </p:spPr>
        <p:txBody>
          <a:bodyPr wrap="square" lIns="0" tIns="0" rIns="0" bIns="0" rtlCol="0" anchor="ctr"/>
          <a:lstStyle/>
          <a:p>
            <a:pPr marL="0" indent="0">
              <a:buNone/>
            </a:pPr>
            <a:r>
              <a:rPr lang="en-US" sz="1700" b="1" dirty="0">
                <a:solidFill>
                  <a:srgbClr val="3A0A14"/>
                </a:solidFill>
                <a:latin typeface="Cambria" pitchFamily="34" charset="0"/>
                <a:ea typeface="Cambria" pitchFamily="34" charset="-122"/>
                <a:cs typeface="Cambria" pitchFamily="34" charset="-120"/>
              </a:rPr>
              <a:t>toString()</a:t>
            </a:r>
            <a:endParaRPr lang="en-US" sz="1700" dirty="0"/>
          </a:p>
        </p:txBody>
      </p:sp>
      <p:sp>
        <p:nvSpPr>
          <p:cNvPr id="24" name="Text 17"/>
          <p:cNvSpPr txBox="1"/>
          <p:nvPr/>
        </p:nvSpPr>
        <p:spPr>
          <a:xfrm>
            <a:off x="822960" y="4846320"/>
            <a:ext cx="3063240" cy="914400"/>
          </a:xfrm>
          <a:prstGeom prst="rect">
            <a:avLst/>
          </a:prstGeom>
          <a:noFill/>
          <a:ln/>
        </p:spPr>
        <p:txBody>
          <a:bodyPr wrap="square" lIns="0" tIns="0" rIns="0" bIns="0" rtlCol="0" anchor="t"/>
          <a:lstStyle/>
          <a:p>
            <a:pPr marL="0" indent="0">
              <a:buNone/>
            </a:pPr>
            <a:r>
              <a:rPr lang="en-US" sz="1400" dirty="0">
                <a:solidFill>
                  <a:srgbClr val="2B2B33"/>
                </a:solidFill>
                <a:latin typeface="Calibri" pitchFamily="34" charset="0"/>
                <a:ea typeface="Calibri" pitchFamily="34" charset="-122"/>
                <a:cs typeface="Calibri" pitchFamily="34" charset="-120"/>
              </a:rPr>
              <a:t>Used in Donor to represent donor details</a:t>
            </a:r>
            <a:endParaRPr lang="en-US" sz="1400" dirty="0"/>
          </a:p>
        </p:txBody>
      </p:sp>
      <p:sp>
        <p:nvSpPr>
          <p:cNvPr id="25" name="Shape 18"/>
          <p:cNvSpPr/>
          <p:nvPr/>
        </p:nvSpPr>
        <p:spPr>
          <a:xfrm>
            <a:off x="4297680" y="3794760"/>
            <a:ext cx="3566160" cy="2103120"/>
          </a:xfrm>
          <a:prstGeom prst="roundRect">
            <a:avLst>
              <a:gd name="adj" fmla="val 5217"/>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26" name="Shape 19"/>
          <p:cNvSpPr/>
          <p:nvPr/>
        </p:nvSpPr>
        <p:spPr>
          <a:xfrm>
            <a:off x="4572000" y="4069080"/>
            <a:ext cx="640080" cy="640080"/>
          </a:xfrm>
          <a:prstGeom prst="ellipse">
            <a:avLst/>
          </a:prstGeom>
          <a:solidFill>
            <a:srgbClr val="9B1B30"/>
          </a:solidFill>
          <a:ln w="12700">
            <a:solidFill>
              <a:srgbClr val="9B1B30"/>
            </a:solidFill>
            <a:prstDash val="solid"/>
          </a:ln>
        </p:spPr>
      </p:sp>
      <p:pic>
        <p:nvPicPr>
          <p:cNvPr id="27" name="Image 5" descr="preencoded.png"/>
          <p:cNvPicPr>
            <a:picLocks noChangeAspect="1"/>
          </p:cNvPicPr>
          <p:nvPr/>
        </p:nvPicPr>
        <p:blipFill>
          <a:blip r:embed="rId7"/>
          <a:stretch>
            <a:fillRect/>
          </a:stretch>
        </p:blipFill>
        <p:spPr>
          <a:xfrm>
            <a:off x="4732020" y="4229100"/>
            <a:ext cx="320040" cy="320040"/>
          </a:xfrm>
          <a:prstGeom prst="rect">
            <a:avLst/>
          </a:prstGeom>
        </p:spPr>
      </p:pic>
      <p:sp>
        <p:nvSpPr>
          <p:cNvPr id="28" name="Text 20"/>
          <p:cNvSpPr txBox="1"/>
          <p:nvPr/>
        </p:nvSpPr>
        <p:spPr>
          <a:xfrm>
            <a:off x="5349240" y="4069080"/>
            <a:ext cx="2377440" cy="640080"/>
          </a:xfrm>
          <a:prstGeom prst="rect">
            <a:avLst/>
          </a:prstGeom>
          <a:noFill/>
          <a:ln/>
        </p:spPr>
        <p:txBody>
          <a:bodyPr wrap="square" lIns="0" tIns="0" rIns="0" bIns="0" rtlCol="0" anchor="ctr"/>
          <a:lstStyle/>
          <a:p>
            <a:pPr marL="0" indent="0">
              <a:buNone/>
            </a:pPr>
            <a:r>
              <a:rPr lang="en-US" sz="1700" b="1" dirty="0">
                <a:solidFill>
                  <a:srgbClr val="3A0A14"/>
                </a:solidFill>
                <a:latin typeface="Cambria" pitchFamily="34" charset="0"/>
                <a:ea typeface="Cambria" pitchFamily="34" charset="-122"/>
                <a:cs typeface="Cambria" pitchFamily="34" charset="-120"/>
              </a:rPr>
              <a:t>Inheritance / Interfaces</a:t>
            </a:r>
            <a:endParaRPr lang="en-US" sz="1700" dirty="0"/>
          </a:p>
        </p:txBody>
      </p:sp>
      <p:sp>
        <p:nvSpPr>
          <p:cNvPr id="29" name="Text 21"/>
          <p:cNvSpPr txBox="1"/>
          <p:nvPr/>
        </p:nvSpPr>
        <p:spPr>
          <a:xfrm>
            <a:off x="4572000" y="4846320"/>
            <a:ext cx="3063240" cy="914400"/>
          </a:xfrm>
          <a:prstGeom prst="rect">
            <a:avLst/>
          </a:prstGeom>
          <a:noFill/>
          <a:ln/>
        </p:spPr>
        <p:txBody>
          <a:bodyPr wrap="square" lIns="0" tIns="0" rIns="0" bIns="0" rtlCol="0" anchor="t"/>
          <a:lstStyle/>
          <a:p>
            <a:pPr marL="0" indent="0">
              <a:buNone/>
            </a:pPr>
            <a:r>
              <a:rPr lang="en-US" sz="1400" dirty="0">
                <a:solidFill>
                  <a:srgbClr val="2B2B33"/>
                </a:solidFill>
                <a:latin typeface="Calibri" pitchFamily="34" charset="0"/>
                <a:ea typeface="Calibri" pitchFamily="34" charset="-122"/>
                <a:cs typeface="Calibri" pitchFamily="34" charset="-120"/>
              </a:rPr>
              <a:t>Can be extended later, e.g. Person → Donor</a:t>
            </a:r>
            <a:endParaRPr lang="en-US" sz="1400" dirty="0"/>
          </a:p>
        </p:txBody>
      </p:sp>
      <p:sp>
        <p:nvSpPr>
          <p:cNvPr id="30" name="Shape 22"/>
          <p:cNvSpPr/>
          <p:nvPr/>
        </p:nvSpPr>
        <p:spPr>
          <a:xfrm>
            <a:off x="8046720" y="3794760"/>
            <a:ext cx="3566160" cy="2103120"/>
          </a:xfrm>
          <a:prstGeom prst="roundRect">
            <a:avLst>
              <a:gd name="adj" fmla="val 5217"/>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31" name="Shape 23"/>
          <p:cNvSpPr/>
          <p:nvPr/>
        </p:nvSpPr>
        <p:spPr>
          <a:xfrm>
            <a:off x="8321040" y="4069080"/>
            <a:ext cx="640080" cy="640080"/>
          </a:xfrm>
          <a:prstGeom prst="ellipse">
            <a:avLst/>
          </a:prstGeom>
          <a:solidFill>
            <a:srgbClr val="9B1B30"/>
          </a:solidFill>
          <a:ln w="12700">
            <a:solidFill>
              <a:srgbClr val="9B1B30"/>
            </a:solidFill>
            <a:prstDash val="solid"/>
          </a:ln>
        </p:spPr>
      </p:sp>
      <p:pic>
        <p:nvPicPr>
          <p:cNvPr id="32" name="Image 6" descr="preencoded.png"/>
          <p:cNvPicPr>
            <a:picLocks noChangeAspect="1"/>
          </p:cNvPicPr>
          <p:nvPr/>
        </p:nvPicPr>
        <p:blipFill>
          <a:blip r:embed="rId8"/>
          <a:stretch>
            <a:fillRect/>
          </a:stretch>
        </p:blipFill>
        <p:spPr>
          <a:xfrm>
            <a:off x="8481060" y="4229100"/>
            <a:ext cx="320040" cy="320040"/>
          </a:xfrm>
          <a:prstGeom prst="rect">
            <a:avLst/>
          </a:prstGeom>
        </p:spPr>
      </p:pic>
      <p:sp>
        <p:nvSpPr>
          <p:cNvPr id="33" name="Text 24"/>
          <p:cNvSpPr txBox="1"/>
          <p:nvPr/>
        </p:nvSpPr>
        <p:spPr>
          <a:xfrm>
            <a:off x="9098280" y="4069080"/>
            <a:ext cx="2377440" cy="640080"/>
          </a:xfrm>
          <a:prstGeom prst="rect">
            <a:avLst/>
          </a:prstGeom>
          <a:noFill/>
          <a:ln/>
        </p:spPr>
        <p:txBody>
          <a:bodyPr wrap="square" lIns="0" tIns="0" rIns="0" bIns="0" rtlCol="0" anchor="ctr"/>
          <a:lstStyle/>
          <a:p>
            <a:pPr marL="0" indent="0">
              <a:buNone/>
            </a:pPr>
            <a:r>
              <a:rPr lang="en-US" sz="1700" b="1" dirty="0">
                <a:solidFill>
                  <a:srgbClr val="3A0A14"/>
                </a:solidFill>
                <a:latin typeface="Cambria" pitchFamily="34" charset="0"/>
                <a:ea typeface="Cambria" pitchFamily="34" charset="-122"/>
                <a:cs typeface="Cambria" pitchFamily="34" charset="-120"/>
              </a:rPr>
              <a:t>Exception Handling</a:t>
            </a:r>
            <a:endParaRPr lang="en-US" sz="1700" dirty="0"/>
          </a:p>
        </p:txBody>
      </p:sp>
      <p:sp>
        <p:nvSpPr>
          <p:cNvPr id="34" name="Text 25"/>
          <p:cNvSpPr txBox="1"/>
          <p:nvPr/>
        </p:nvSpPr>
        <p:spPr>
          <a:xfrm>
            <a:off x="8321040" y="4846320"/>
            <a:ext cx="3063240" cy="914400"/>
          </a:xfrm>
          <a:prstGeom prst="rect">
            <a:avLst/>
          </a:prstGeom>
          <a:noFill/>
          <a:ln/>
        </p:spPr>
        <p:txBody>
          <a:bodyPr wrap="square" lIns="0" tIns="0" rIns="0" bIns="0" rtlCol="0" anchor="t"/>
          <a:lstStyle/>
          <a:p>
            <a:pPr marL="0" indent="0">
              <a:buNone/>
            </a:pPr>
            <a:r>
              <a:rPr lang="en-US" sz="1400" dirty="0">
                <a:solidFill>
                  <a:srgbClr val="2B2B33"/>
                </a:solidFill>
                <a:latin typeface="Calibri" pitchFamily="34" charset="0"/>
                <a:ea typeface="Calibri" pitchFamily="34" charset="-122"/>
                <a:cs typeface="Calibri" pitchFamily="34" charset="-120"/>
              </a:rPr>
              <a:t>try-catch block in main handles runtime errors</a:t>
            </a:r>
            <a:endParaRPr lang="en-US" sz="1400" dirty="0"/>
          </a:p>
        </p:txBody>
      </p:sp>
      <p:sp>
        <p:nvSpPr>
          <p:cNvPr id="35" name="Text 26"/>
          <p:cNvSpPr txBox="1"/>
          <p:nvPr/>
        </p:nvSpPr>
        <p:spPr>
          <a:xfrm>
            <a:off x="11247120" y="6355080"/>
            <a:ext cx="548640" cy="274320"/>
          </a:xfrm>
          <a:prstGeom prst="rect">
            <a:avLst/>
          </a:prstGeom>
          <a:noFill/>
          <a:ln/>
        </p:spPr>
        <p:txBody>
          <a:bodyPr wrap="square" lIns="0" tIns="0" rIns="0" bIns="0" rtlCol="0" anchor="ctr"/>
          <a:lstStyle/>
          <a:p>
            <a:pPr marL="0" indent="0" algn="r">
              <a:buNone/>
            </a:pPr>
            <a:r>
              <a:rPr lang="en-US" sz="1200" dirty="0">
                <a:solidFill>
                  <a:srgbClr val="6B5B5F"/>
                </a:solidFill>
                <a:latin typeface="Calibri" pitchFamily="34" charset="0"/>
                <a:ea typeface="Calibri" pitchFamily="34" charset="-122"/>
                <a:cs typeface="Calibri"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name="Slide 11">
    <p:bg>
      <p:bgPr>
        <a:solidFill>
          <a:srgbClr val="FBF3F4"/>
        </a:solidFill>
        <a:effectLst/>
      </p:bgPr>
    </p:bg>
    <p:spTree>
      <p:nvGrpSpPr>
        <p:cNvPr id="1" name=""/>
        <p:cNvGrpSpPr/>
        <p:nvPr/>
      </p:nvGrpSpPr>
      <p:grpSpPr>
        <a:xfrm>
          <a:off x="0" y="0"/>
          <a:ext cx="0" cy="0"/>
          <a:chOff x="0" y="0"/>
          <a:chExt cx="0" cy="0"/>
        </a:xfrm>
      </p:grpSpPr>
      <p:sp>
        <p:nvSpPr>
          <p:cNvPr id="2" name="Shape 0"/>
          <p:cNvSpPr/>
          <p:nvPr/>
        </p:nvSpPr>
        <p:spPr>
          <a:xfrm>
            <a:off x="548640" y="411480"/>
            <a:ext cx="731520" cy="731520"/>
          </a:xfrm>
          <a:prstGeom prst="ellipse">
            <a:avLst/>
          </a:prstGeom>
          <a:solidFill>
            <a:srgbClr val="9B1B30"/>
          </a:solidFill>
          <a:ln w="12700">
            <a:solidFill>
              <a:srgbClr val="9B1B30"/>
            </a:solidFill>
            <a:prstDash val="solid"/>
          </a:ln>
        </p:spPr>
      </p:sp>
      <p:pic>
        <p:nvPicPr>
          <p:cNvPr id="3" name="Image 0" descr="preencoded.png"/>
          <p:cNvPicPr>
            <a:picLocks noChangeAspect="1"/>
          </p:cNvPicPr>
          <p:nvPr/>
        </p:nvPicPr>
        <p:blipFill>
          <a:blip r:embed="rId3"/>
          <a:stretch>
            <a:fillRect/>
          </a:stretch>
        </p:blipFill>
        <p:spPr>
          <a:xfrm>
            <a:off x="731520" y="594360"/>
            <a:ext cx="365760" cy="365760"/>
          </a:xfrm>
          <a:prstGeom prst="rect">
            <a:avLst/>
          </a:prstGeom>
        </p:spPr>
      </p:pic>
      <p:sp>
        <p:nvSpPr>
          <p:cNvPr id="4" name="Text 1"/>
          <p:cNvSpPr txBox="1"/>
          <p:nvPr/>
        </p:nvSpPr>
        <p:spPr>
          <a:xfrm>
            <a:off x="1463040" y="411480"/>
            <a:ext cx="9601200" cy="731520"/>
          </a:xfrm>
          <a:prstGeom prst="rect">
            <a:avLst/>
          </a:prstGeom>
          <a:noFill/>
          <a:ln/>
        </p:spPr>
        <p:txBody>
          <a:bodyPr wrap="square" lIns="0" tIns="0" rIns="0" bIns="0" rtlCol="0" anchor="ctr"/>
          <a:lstStyle/>
          <a:p>
            <a:pPr marL="0" indent="0">
              <a:buNone/>
            </a:pPr>
            <a:r>
              <a:rPr lang="en-US" sz="3600" b="1" dirty="0">
                <a:solidFill>
                  <a:srgbClr val="3A0A14"/>
                </a:solidFill>
                <a:latin typeface="Cambria" pitchFamily="34" charset="0"/>
                <a:ea typeface="Cambria" pitchFamily="34" charset="-122"/>
                <a:cs typeface="Cambria" pitchFamily="34" charset="-120"/>
              </a:rPr>
              <a:t>CO5 ATTAINMENTS</a:t>
            </a:r>
            <a:endParaRPr lang="en-US" sz="3600" dirty="0"/>
          </a:p>
        </p:txBody>
      </p:sp>
      <p:sp>
        <p:nvSpPr>
          <p:cNvPr id="5" name="Shape 2"/>
          <p:cNvSpPr/>
          <p:nvPr/>
        </p:nvSpPr>
        <p:spPr>
          <a:xfrm>
            <a:off x="548640" y="1554480"/>
            <a:ext cx="5440680" cy="2103120"/>
          </a:xfrm>
          <a:prstGeom prst="roundRect">
            <a:avLst>
              <a:gd name="adj" fmla="val 5217"/>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6" name="Shape 3"/>
          <p:cNvSpPr/>
          <p:nvPr/>
        </p:nvSpPr>
        <p:spPr>
          <a:xfrm>
            <a:off x="868680" y="1828800"/>
            <a:ext cx="777240" cy="777240"/>
          </a:xfrm>
          <a:prstGeom prst="ellipse">
            <a:avLst/>
          </a:prstGeom>
          <a:solidFill>
            <a:srgbClr val="9B1B30"/>
          </a:solidFill>
          <a:ln w="12700">
            <a:solidFill>
              <a:srgbClr val="9B1B30"/>
            </a:solidFill>
            <a:prstDash val="solid"/>
          </a:ln>
        </p:spPr>
      </p:sp>
      <p:pic>
        <p:nvPicPr>
          <p:cNvPr id="7" name="Image 1" descr="preencoded.png"/>
          <p:cNvPicPr>
            <a:picLocks noChangeAspect="1"/>
          </p:cNvPicPr>
          <p:nvPr/>
        </p:nvPicPr>
        <p:blipFill>
          <a:blip r:embed="rId4"/>
          <a:stretch>
            <a:fillRect/>
          </a:stretch>
        </p:blipFill>
        <p:spPr>
          <a:xfrm>
            <a:off x="1062990" y="2023110"/>
            <a:ext cx="388620" cy="388620"/>
          </a:xfrm>
          <a:prstGeom prst="rect">
            <a:avLst/>
          </a:prstGeom>
        </p:spPr>
      </p:pic>
      <p:sp>
        <p:nvSpPr>
          <p:cNvPr id="8" name="Text 4"/>
          <p:cNvSpPr txBox="1"/>
          <p:nvPr/>
        </p:nvSpPr>
        <p:spPr>
          <a:xfrm>
            <a:off x="1920240" y="1828800"/>
            <a:ext cx="3840480" cy="777240"/>
          </a:xfrm>
          <a:prstGeom prst="rect">
            <a:avLst/>
          </a:prstGeom>
          <a:noFill/>
          <a:ln/>
        </p:spPr>
        <p:txBody>
          <a:bodyPr wrap="square" lIns="0" tIns="0" rIns="0" bIns="0" rtlCol="0" anchor="ctr"/>
          <a:lstStyle/>
          <a:p>
            <a:pPr marL="0" indent="0">
              <a:buNone/>
            </a:pPr>
            <a:r>
              <a:rPr lang="en-US" sz="2100" b="1" dirty="0">
                <a:solidFill>
                  <a:srgbClr val="3A0A14"/>
                </a:solidFill>
                <a:latin typeface="Cambria" pitchFamily="34" charset="0"/>
                <a:ea typeface="Cambria" pitchFamily="34" charset="-122"/>
                <a:cs typeface="Cambria" pitchFamily="34" charset="-120"/>
              </a:rPr>
              <a:t>String Operations</a:t>
            </a:r>
            <a:endParaRPr lang="en-US" sz="2100" dirty="0"/>
          </a:p>
        </p:txBody>
      </p:sp>
      <p:sp>
        <p:nvSpPr>
          <p:cNvPr id="9" name="Text 5"/>
          <p:cNvSpPr txBox="1"/>
          <p:nvPr/>
        </p:nvSpPr>
        <p:spPr>
          <a:xfrm>
            <a:off x="868680" y="2743200"/>
            <a:ext cx="4800600" cy="777240"/>
          </a:xfrm>
          <a:prstGeom prst="rect">
            <a:avLst/>
          </a:prstGeom>
          <a:noFill/>
          <a:ln/>
        </p:spPr>
        <p:txBody>
          <a:bodyPr wrap="square" lIns="0" tIns="0" rIns="0" bIns="0" rtlCol="0" anchor="t"/>
          <a:lstStyle/>
          <a:p>
            <a:pPr marL="0" indent="0">
              <a:buNone/>
            </a:pPr>
            <a:r>
              <a:rPr lang="en-US" sz="1600" dirty="0">
                <a:solidFill>
                  <a:srgbClr val="2B2B33"/>
                </a:solidFill>
                <a:latin typeface="Calibri" pitchFamily="34" charset="0"/>
                <a:ea typeface="Calibri" pitchFamily="34" charset="-122"/>
                <a:cs typeface="Calibri" pitchFamily="34" charset="-120"/>
              </a:rPr>
              <a:t>Donor names and blood groups stored as String</a:t>
            </a:r>
            <a:endParaRPr lang="en-US" sz="1600" dirty="0"/>
          </a:p>
        </p:txBody>
      </p:sp>
      <p:sp>
        <p:nvSpPr>
          <p:cNvPr id="10" name="Shape 6"/>
          <p:cNvSpPr/>
          <p:nvPr/>
        </p:nvSpPr>
        <p:spPr>
          <a:xfrm>
            <a:off x="6172200" y="1554480"/>
            <a:ext cx="5440680" cy="2103120"/>
          </a:xfrm>
          <a:prstGeom prst="roundRect">
            <a:avLst>
              <a:gd name="adj" fmla="val 5217"/>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11" name="Shape 7"/>
          <p:cNvSpPr/>
          <p:nvPr/>
        </p:nvSpPr>
        <p:spPr>
          <a:xfrm>
            <a:off x="6492240" y="1828800"/>
            <a:ext cx="777240" cy="777240"/>
          </a:xfrm>
          <a:prstGeom prst="ellipse">
            <a:avLst/>
          </a:prstGeom>
          <a:solidFill>
            <a:srgbClr val="9B1B30"/>
          </a:solidFill>
          <a:ln w="12700">
            <a:solidFill>
              <a:srgbClr val="9B1B30"/>
            </a:solidFill>
            <a:prstDash val="solid"/>
          </a:ln>
        </p:spPr>
      </p:sp>
      <p:pic>
        <p:nvPicPr>
          <p:cNvPr id="12" name="Image 2" descr="preencoded.png"/>
          <p:cNvPicPr>
            <a:picLocks noChangeAspect="1"/>
          </p:cNvPicPr>
          <p:nvPr/>
        </p:nvPicPr>
        <p:blipFill>
          <a:blip r:embed="rId3"/>
          <a:stretch>
            <a:fillRect/>
          </a:stretch>
        </p:blipFill>
        <p:spPr>
          <a:xfrm>
            <a:off x="6686550" y="2023110"/>
            <a:ext cx="388620" cy="388620"/>
          </a:xfrm>
          <a:prstGeom prst="rect">
            <a:avLst/>
          </a:prstGeom>
        </p:spPr>
      </p:pic>
      <p:sp>
        <p:nvSpPr>
          <p:cNvPr id="13" name="Text 8"/>
          <p:cNvSpPr txBox="1"/>
          <p:nvPr/>
        </p:nvSpPr>
        <p:spPr>
          <a:xfrm>
            <a:off x="7543800" y="1828800"/>
            <a:ext cx="3840480" cy="777240"/>
          </a:xfrm>
          <a:prstGeom prst="rect">
            <a:avLst/>
          </a:prstGeom>
          <a:noFill/>
          <a:ln/>
        </p:spPr>
        <p:txBody>
          <a:bodyPr wrap="square" lIns="0" tIns="0" rIns="0" bIns="0" rtlCol="0" anchor="ctr"/>
          <a:lstStyle/>
          <a:p>
            <a:pPr marL="0" indent="0">
              <a:buNone/>
            </a:pPr>
            <a:r>
              <a:rPr lang="en-US" sz="2100" b="1" dirty="0">
                <a:solidFill>
                  <a:srgbClr val="3A0A14"/>
                </a:solidFill>
                <a:latin typeface="Cambria" pitchFamily="34" charset="0"/>
                <a:ea typeface="Cambria" pitchFamily="34" charset="-122"/>
                <a:cs typeface="Cambria" pitchFamily="34" charset="-120"/>
              </a:rPr>
              <a:t>equals() vs ==</a:t>
            </a:r>
            <a:endParaRPr lang="en-US" sz="2100" dirty="0"/>
          </a:p>
        </p:txBody>
      </p:sp>
      <p:sp>
        <p:nvSpPr>
          <p:cNvPr id="14" name="Text 9"/>
          <p:cNvSpPr txBox="1"/>
          <p:nvPr/>
        </p:nvSpPr>
        <p:spPr>
          <a:xfrm>
            <a:off x="6492240" y="2743200"/>
            <a:ext cx="4800600" cy="777240"/>
          </a:xfrm>
          <a:prstGeom prst="rect">
            <a:avLst/>
          </a:prstGeom>
          <a:noFill/>
          <a:ln/>
        </p:spPr>
        <p:txBody>
          <a:bodyPr wrap="square" lIns="0" tIns="0" rIns="0" bIns="0" rtlCol="0" anchor="t"/>
          <a:lstStyle/>
          <a:p>
            <a:pPr marL="0" indent="0">
              <a:buNone/>
            </a:pPr>
            <a:r>
              <a:rPr lang="en-US" sz="1600" dirty="0">
                <a:solidFill>
                  <a:srgbClr val="2B2B33"/>
                </a:solidFill>
                <a:latin typeface="Calibri" pitchFamily="34" charset="0"/>
                <a:ea typeface="Calibri" pitchFamily="34" charset="-122"/>
                <a:cs typeface="Calibri" pitchFamily="34" charset="-120"/>
              </a:rPr>
              <a:t>Used when comparing blood groups for matching</a:t>
            </a:r>
            <a:endParaRPr lang="en-US" sz="1600" dirty="0"/>
          </a:p>
        </p:txBody>
      </p:sp>
      <p:sp>
        <p:nvSpPr>
          <p:cNvPr id="15" name="Shape 10"/>
          <p:cNvSpPr/>
          <p:nvPr/>
        </p:nvSpPr>
        <p:spPr>
          <a:xfrm>
            <a:off x="548640" y="3840480"/>
            <a:ext cx="5440680" cy="2103120"/>
          </a:xfrm>
          <a:prstGeom prst="roundRect">
            <a:avLst>
              <a:gd name="adj" fmla="val 5217"/>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16" name="Shape 11"/>
          <p:cNvSpPr/>
          <p:nvPr/>
        </p:nvSpPr>
        <p:spPr>
          <a:xfrm>
            <a:off x="868680" y="4114800"/>
            <a:ext cx="777240" cy="777240"/>
          </a:xfrm>
          <a:prstGeom prst="ellipse">
            <a:avLst/>
          </a:prstGeom>
          <a:solidFill>
            <a:srgbClr val="9B1B30"/>
          </a:solidFill>
          <a:ln w="12700">
            <a:solidFill>
              <a:srgbClr val="9B1B30"/>
            </a:solidFill>
            <a:prstDash val="solid"/>
          </a:ln>
        </p:spPr>
      </p:sp>
      <p:pic>
        <p:nvPicPr>
          <p:cNvPr id="17" name="Image 3" descr="preencoded.png"/>
          <p:cNvPicPr>
            <a:picLocks noChangeAspect="1"/>
          </p:cNvPicPr>
          <p:nvPr/>
        </p:nvPicPr>
        <p:blipFill>
          <a:blip r:embed="rId5"/>
          <a:stretch>
            <a:fillRect/>
          </a:stretch>
        </p:blipFill>
        <p:spPr>
          <a:xfrm>
            <a:off x="1062990" y="4309110"/>
            <a:ext cx="388620" cy="388620"/>
          </a:xfrm>
          <a:prstGeom prst="rect">
            <a:avLst/>
          </a:prstGeom>
        </p:spPr>
      </p:pic>
      <p:sp>
        <p:nvSpPr>
          <p:cNvPr id="18" name="Text 12"/>
          <p:cNvSpPr txBox="1"/>
          <p:nvPr/>
        </p:nvSpPr>
        <p:spPr>
          <a:xfrm>
            <a:off x="1920240" y="4114800"/>
            <a:ext cx="3840480" cy="777240"/>
          </a:xfrm>
          <a:prstGeom prst="rect">
            <a:avLst/>
          </a:prstGeom>
          <a:noFill/>
          <a:ln/>
        </p:spPr>
        <p:txBody>
          <a:bodyPr wrap="square" lIns="0" tIns="0" rIns="0" bIns="0" rtlCol="0" anchor="ctr"/>
          <a:lstStyle/>
          <a:p>
            <a:pPr marL="0" indent="0">
              <a:buNone/>
            </a:pPr>
            <a:r>
              <a:rPr lang="en-US" sz="2100" b="1" dirty="0">
                <a:solidFill>
                  <a:srgbClr val="3A0A14"/>
                </a:solidFill>
                <a:latin typeface="Cambria" pitchFamily="34" charset="0"/>
                <a:ea typeface="Cambria" pitchFamily="34" charset="-122"/>
                <a:cs typeface="Cambria" pitchFamily="34" charset="-120"/>
              </a:rPr>
              <a:t>Sorting / Searching</a:t>
            </a:r>
            <a:endParaRPr lang="en-US" sz="2100" dirty="0"/>
          </a:p>
        </p:txBody>
      </p:sp>
      <p:sp>
        <p:nvSpPr>
          <p:cNvPr id="19" name="Text 13"/>
          <p:cNvSpPr txBox="1"/>
          <p:nvPr/>
        </p:nvSpPr>
        <p:spPr>
          <a:xfrm>
            <a:off x="868680" y="5029200"/>
            <a:ext cx="4800600" cy="777240"/>
          </a:xfrm>
          <a:prstGeom prst="rect">
            <a:avLst/>
          </a:prstGeom>
          <a:noFill/>
          <a:ln/>
        </p:spPr>
        <p:txBody>
          <a:bodyPr wrap="square" lIns="0" tIns="0" rIns="0" bIns="0" rtlCol="0" anchor="t"/>
          <a:lstStyle/>
          <a:p>
            <a:pPr marL="0" indent="0">
              <a:buNone/>
            </a:pPr>
            <a:r>
              <a:rPr lang="en-US" sz="1600" dirty="0">
                <a:solidFill>
                  <a:srgbClr val="2B2B33"/>
                </a:solidFill>
                <a:latin typeface="Calibri" pitchFamily="34" charset="0"/>
                <a:ea typeface="Calibri" pitchFamily="34" charset="-122"/>
                <a:cs typeface="Calibri" pitchFamily="34" charset="-120"/>
              </a:rPr>
              <a:t>Could be applied with Collections.sort() for donor lists</a:t>
            </a:r>
            <a:endParaRPr lang="en-US" sz="1600" dirty="0"/>
          </a:p>
        </p:txBody>
      </p:sp>
      <p:sp>
        <p:nvSpPr>
          <p:cNvPr id="20" name="Shape 14"/>
          <p:cNvSpPr/>
          <p:nvPr/>
        </p:nvSpPr>
        <p:spPr>
          <a:xfrm>
            <a:off x="6172200" y="3840480"/>
            <a:ext cx="5440680" cy="2103120"/>
          </a:xfrm>
          <a:prstGeom prst="roundRect">
            <a:avLst>
              <a:gd name="adj" fmla="val 5217"/>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21" name="Shape 15"/>
          <p:cNvSpPr/>
          <p:nvPr/>
        </p:nvSpPr>
        <p:spPr>
          <a:xfrm>
            <a:off x="6492240" y="4114800"/>
            <a:ext cx="777240" cy="777240"/>
          </a:xfrm>
          <a:prstGeom prst="ellipse">
            <a:avLst/>
          </a:prstGeom>
          <a:solidFill>
            <a:srgbClr val="9B1B30"/>
          </a:solidFill>
          <a:ln w="12700">
            <a:solidFill>
              <a:srgbClr val="9B1B30"/>
            </a:solidFill>
            <a:prstDash val="solid"/>
          </a:ln>
        </p:spPr>
      </p:sp>
      <p:pic>
        <p:nvPicPr>
          <p:cNvPr id="22" name="Image 4" descr="preencoded.png"/>
          <p:cNvPicPr>
            <a:picLocks noChangeAspect="1"/>
          </p:cNvPicPr>
          <p:nvPr/>
        </p:nvPicPr>
        <p:blipFill>
          <a:blip r:embed="rId6"/>
          <a:stretch>
            <a:fillRect/>
          </a:stretch>
        </p:blipFill>
        <p:spPr>
          <a:xfrm>
            <a:off x="6686550" y="4309110"/>
            <a:ext cx="388620" cy="388620"/>
          </a:xfrm>
          <a:prstGeom prst="rect">
            <a:avLst/>
          </a:prstGeom>
        </p:spPr>
      </p:pic>
      <p:sp>
        <p:nvSpPr>
          <p:cNvPr id="23" name="Text 16"/>
          <p:cNvSpPr txBox="1"/>
          <p:nvPr/>
        </p:nvSpPr>
        <p:spPr>
          <a:xfrm>
            <a:off x="7543800" y="4114800"/>
            <a:ext cx="3840480" cy="777240"/>
          </a:xfrm>
          <a:prstGeom prst="rect">
            <a:avLst/>
          </a:prstGeom>
          <a:noFill/>
          <a:ln/>
        </p:spPr>
        <p:txBody>
          <a:bodyPr wrap="square" lIns="0" tIns="0" rIns="0" bIns="0" rtlCol="0" anchor="ctr"/>
          <a:lstStyle/>
          <a:p>
            <a:pPr marL="0" indent="0">
              <a:buNone/>
            </a:pPr>
            <a:r>
              <a:rPr lang="en-US" sz="2100" b="1" dirty="0">
                <a:solidFill>
                  <a:srgbClr val="3A0A14"/>
                </a:solidFill>
                <a:latin typeface="Cambria" pitchFamily="34" charset="0"/>
                <a:ea typeface="Cambria" pitchFamily="34" charset="-122"/>
                <a:cs typeface="Cambria" pitchFamily="34" charset="-120"/>
              </a:rPr>
              <a:t>File I/O (future extension)</a:t>
            </a:r>
            <a:endParaRPr lang="en-US" sz="2100" dirty="0"/>
          </a:p>
        </p:txBody>
      </p:sp>
      <p:sp>
        <p:nvSpPr>
          <p:cNvPr id="24" name="Text 17"/>
          <p:cNvSpPr txBox="1"/>
          <p:nvPr/>
        </p:nvSpPr>
        <p:spPr>
          <a:xfrm>
            <a:off x="6492240" y="5029200"/>
            <a:ext cx="4800600" cy="777240"/>
          </a:xfrm>
          <a:prstGeom prst="rect">
            <a:avLst/>
          </a:prstGeom>
          <a:noFill/>
          <a:ln/>
        </p:spPr>
        <p:txBody>
          <a:bodyPr wrap="square" lIns="0" tIns="0" rIns="0" bIns="0" rtlCol="0" anchor="t"/>
          <a:lstStyle/>
          <a:p>
            <a:pPr marL="0" indent="0">
              <a:buNone/>
            </a:pPr>
            <a:r>
              <a:rPr lang="en-US" sz="1600" dirty="0">
                <a:solidFill>
                  <a:srgbClr val="2B2B33"/>
                </a:solidFill>
                <a:latin typeface="Calibri" pitchFamily="34" charset="0"/>
                <a:ea typeface="Calibri" pitchFamily="34" charset="-122"/>
                <a:cs typeface="Calibri" pitchFamily="34" charset="-120"/>
              </a:rPr>
              <a:t>Reading/writing donor records to files, handling malformed data</a:t>
            </a:r>
            <a:endParaRPr lang="en-US" sz="1600" dirty="0"/>
          </a:p>
        </p:txBody>
      </p:sp>
      <p:sp>
        <p:nvSpPr>
          <p:cNvPr id="25" name="Text 18"/>
          <p:cNvSpPr txBox="1"/>
          <p:nvPr/>
        </p:nvSpPr>
        <p:spPr>
          <a:xfrm>
            <a:off x="11247120" y="6355080"/>
            <a:ext cx="548640" cy="274320"/>
          </a:xfrm>
          <a:prstGeom prst="rect">
            <a:avLst/>
          </a:prstGeom>
          <a:noFill/>
          <a:ln/>
        </p:spPr>
        <p:txBody>
          <a:bodyPr wrap="square" lIns="0" tIns="0" rIns="0" bIns="0" rtlCol="0" anchor="ctr"/>
          <a:lstStyle/>
          <a:p>
            <a:pPr marL="0" indent="0" algn="r">
              <a:buNone/>
            </a:pPr>
            <a:r>
              <a:rPr lang="en-US" sz="1200" dirty="0">
                <a:solidFill>
                  <a:srgbClr val="6B5B5F"/>
                </a:solidFill>
                <a:latin typeface="Calibri" pitchFamily="34" charset="0"/>
                <a:ea typeface="Calibri" pitchFamily="34" charset="-122"/>
                <a:cs typeface="Calibri"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name="Slide 12">
    <p:bg>
      <p:bgPr>
        <a:solidFill>
          <a:srgbClr val="260710"/>
        </a:solidFill>
        <a:effectLst/>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9B1B30">
              <a:alpha val="40000"/>
            </a:srgbClr>
          </a:solidFill>
          <a:ln w="12700">
            <a:solidFill>
              <a:srgbClr val="9B1B30">
                <a:alpha val="40000"/>
              </a:srgbClr>
            </a:solidFill>
            <a:prstDash val="solid"/>
          </a:ln>
        </p:spPr>
      </p:sp>
      <p:sp>
        <p:nvSpPr>
          <p:cNvPr id="3" name="Text 1"/>
          <p:cNvSpPr txBox="1"/>
          <p:nvPr/>
        </p:nvSpPr>
        <p:spPr>
          <a:xfrm>
            <a:off x="731520" y="548640"/>
            <a:ext cx="7315200" cy="73152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CONCLUSION</a:t>
            </a:r>
            <a:endParaRPr lang="en-US" sz="3800" dirty="0"/>
          </a:p>
        </p:txBody>
      </p:sp>
      <p:sp>
        <p:nvSpPr>
          <p:cNvPr id="4" name="Text 2"/>
          <p:cNvSpPr txBox="1"/>
          <p:nvPr/>
        </p:nvSpPr>
        <p:spPr>
          <a:xfrm>
            <a:off x="731520" y="1554480"/>
            <a:ext cx="7589520" cy="3657600"/>
          </a:xfrm>
          <a:prstGeom prst="rect">
            <a:avLst/>
          </a:prstGeom>
          <a:noFill/>
          <a:ln/>
        </p:spPr>
        <p:txBody>
          <a:bodyPr wrap="square" lIns="0" tIns="0" rIns="0" bIns="0" rtlCol="0" anchor="t"/>
          <a:lstStyle/>
          <a:p>
            <a:pPr marL="0" indent="0">
              <a:spcAft>
                <a:spcPts val="600"/>
              </a:spcAft>
              <a:buNone/>
            </a:pPr>
            <a:r>
              <a:rPr lang="en-US" sz="2000" dirty="0">
                <a:solidFill>
                  <a:srgbClr val="F4DDE1"/>
                </a:solidFill>
                <a:latin typeface="Calibri" pitchFamily="34" charset="0"/>
                <a:ea typeface="Calibri" pitchFamily="34" charset="-122"/>
                <a:cs typeface="Calibri" pitchFamily="34" charset="-120"/>
              </a:rPr>
              <a:t>The Smart Blood Bank Inventory and Donor Matcher transforms blood banking from a slow, manual process into a fast, automated system. By connecting hospitals and donors in real-time, this project solves the critical problem of communication delays, stops life-saving blood from going to waste, and ensures that patients get the right blood at the right time—ultimately saving countless lives.</a:t>
            </a:r>
            <a:endParaRPr lang="en-US" sz="2000" dirty="0"/>
          </a:p>
        </p:txBody>
      </p:sp>
      <p:sp>
        <p:nvSpPr>
          <p:cNvPr id="5" name="Shape 3"/>
          <p:cNvSpPr/>
          <p:nvPr/>
        </p:nvSpPr>
        <p:spPr>
          <a:xfrm>
            <a:off x="8869680" y="1554480"/>
            <a:ext cx="2743200" cy="1325880"/>
          </a:xfrm>
          <a:prstGeom prst="roundRect">
            <a:avLst>
              <a:gd name="adj" fmla="val 8276"/>
            </a:avLst>
          </a:prstGeom>
          <a:solidFill>
            <a:srgbClr val="FFFFFF">
              <a:alpha val="10000"/>
            </a:srgbClr>
          </a:solidFill>
          <a:ln w="12700">
            <a:solidFill>
              <a:srgbClr val="FFFFFF">
                <a:alpha val="25000"/>
              </a:srgbClr>
            </a:solidFill>
            <a:prstDash val="solid"/>
          </a:ln>
        </p:spPr>
      </p:sp>
      <p:sp>
        <p:nvSpPr>
          <p:cNvPr id="6" name="Shape 4"/>
          <p:cNvSpPr/>
          <p:nvPr/>
        </p:nvSpPr>
        <p:spPr>
          <a:xfrm>
            <a:off x="9098280" y="1847088"/>
            <a:ext cx="731520" cy="731520"/>
          </a:xfrm>
          <a:prstGeom prst="ellipse">
            <a:avLst/>
          </a:prstGeom>
          <a:solidFill>
            <a:srgbClr val="9B1B30"/>
          </a:solidFill>
          <a:ln w="12700">
            <a:solidFill>
              <a:srgbClr val="9B1B30"/>
            </a:solidFill>
            <a:prstDash val="solid"/>
          </a:ln>
        </p:spPr>
      </p:sp>
      <p:pic>
        <p:nvPicPr>
          <p:cNvPr id="7" name="Image 0" descr="preencoded.png"/>
          <p:cNvPicPr>
            <a:picLocks noChangeAspect="1"/>
          </p:cNvPicPr>
          <p:nvPr/>
        </p:nvPicPr>
        <p:blipFill>
          <a:blip r:embed="rId3"/>
          <a:stretch>
            <a:fillRect/>
          </a:stretch>
        </p:blipFill>
        <p:spPr>
          <a:xfrm>
            <a:off x="9281160" y="2029968"/>
            <a:ext cx="365760" cy="365760"/>
          </a:xfrm>
          <a:prstGeom prst="rect">
            <a:avLst/>
          </a:prstGeom>
        </p:spPr>
      </p:pic>
      <p:sp>
        <p:nvSpPr>
          <p:cNvPr id="8" name="Text 5"/>
          <p:cNvSpPr txBox="1"/>
          <p:nvPr/>
        </p:nvSpPr>
        <p:spPr>
          <a:xfrm>
            <a:off x="10012680" y="1554480"/>
            <a:ext cx="1508760" cy="132588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Hospitals</a:t>
            </a:r>
            <a:endParaRPr lang="en-US" sz="1700" dirty="0"/>
          </a:p>
        </p:txBody>
      </p:sp>
      <p:sp>
        <p:nvSpPr>
          <p:cNvPr id="9" name="Shape 6"/>
          <p:cNvSpPr/>
          <p:nvPr/>
        </p:nvSpPr>
        <p:spPr>
          <a:xfrm>
            <a:off x="8869680" y="3063240"/>
            <a:ext cx="2743200" cy="1325880"/>
          </a:xfrm>
          <a:prstGeom prst="roundRect">
            <a:avLst>
              <a:gd name="adj" fmla="val 8276"/>
            </a:avLst>
          </a:prstGeom>
          <a:solidFill>
            <a:srgbClr val="FFFFFF">
              <a:alpha val="10000"/>
            </a:srgbClr>
          </a:solidFill>
          <a:ln w="12700">
            <a:solidFill>
              <a:srgbClr val="FFFFFF">
                <a:alpha val="25000"/>
              </a:srgbClr>
            </a:solidFill>
            <a:prstDash val="solid"/>
          </a:ln>
        </p:spPr>
      </p:sp>
      <p:sp>
        <p:nvSpPr>
          <p:cNvPr id="10" name="Shape 7"/>
          <p:cNvSpPr/>
          <p:nvPr/>
        </p:nvSpPr>
        <p:spPr>
          <a:xfrm>
            <a:off x="9098280" y="3355848"/>
            <a:ext cx="731520" cy="731520"/>
          </a:xfrm>
          <a:prstGeom prst="ellipse">
            <a:avLst/>
          </a:prstGeom>
          <a:solidFill>
            <a:srgbClr val="9B1B30"/>
          </a:solidFill>
          <a:ln w="12700">
            <a:solidFill>
              <a:srgbClr val="9B1B30"/>
            </a:solidFill>
            <a:prstDash val="solid"/>
          </a:ln>
        </p:spPr>
      </p:sp>
      <p:pic>
        <p:nvPicPr>
          <p:cNvPr id="11" name="Image 1" descr="preencoded.png"/>
          <p:cNvPicPr>
            <a:picLocks noChangeAspect="1"/>
          </p:cNvPicPr>
          <p:nvPr/>
        </p:nvPicPr>
        <p:blipFill>
          <a:blip r:embed="rId4"/>
          <a:stretch>
            <a:fillRect/>
          </a:stretch>
        </p:blipFill>
        <p:spPr>
          <a:xfrm>
            <a:off x="9281160" y="3538728"/>
            <a:ext cx="365760" cy="365760"/>
          </a:xfrm>
          <a:prstGeom prst="rect">
            <a:avLst/>
          </a:prstGeom>
        </p:spPr>
      </p:pic>
      <p:sp>
        <p:nvSpPr>
          <p:cNvPr id="12" name="Text 8"/>
          <p:cNvSpPr txBox="1"/>
          <p:nvPr/>
        </p:nvSpPr>
        <p:spPr>
          <a:xfrm>
            <a:off x="10012680" y="3063240"/>
            <a:ext cx="1508760" cy="132588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Donors</a:t>
            </a:r>
            <a:endParaRPr lang="en-US" sz="1700" dirty="0"/>
          </a:p>
        </p:txBody>
      </p:sp>
      <p:sp>
        <p:nvSpPr>
          <p:cNvPr id="13" name="Shape 9"/>
          <p:cNvSpPr/>
          <p:nvPr/>
        </p:nvSpPr>
        <p:spPr>
          <a:xfrm>
            <a:off x="8869680" y="4572000"/>
            <a:ext cx="2743200" cy="1325880"/>
          </a:xfrm>
          <a:prstGeom prst="roundRect">
            <a:avLst>
              <a:gd name="adj" fmla="val 8276"/>
            </a:avLst>
          </a:prstGeom>
          <a:solidFill>
            <a:srgbClr val="FFFFFF">
              <a:alpha val="10000"/>
            </a:srgbClr>
          </a:solidFill>
          <a:ln w="12700">
            <a:solidFill>
              <a:srgbClr val="FFFFFF">
                <a:alpha val="25000"/>
              </a:srgbClr>
            </a:solidFill>
            <a:prstDash val="solid"/>
          </a:ln>
        </p:spPr>
      </p:sp>
      <p:sp>
        <p:nvSpPr>
          <p:cNvPr id="14" name="Shape 10"/>
          <p:cNvSpPr/>
          <p:nvPr/>
        </p:nvSpPr>
        <p:spPr>
          <a:xfrm>
            <a:off x="9098280" y="4864608"/>
            <a:ext cx="731520" cy="731520"/>
          </a:xfrm>
          <a:prstGeom prst="ellipse">
            <a:avLst/>
          </a:prstGeom>
          <a:solidFill>
            <a:srgbClr val="9B1B30"/>
          </a:solidFill>
          <a:ln w="12700">
            <a:solidFill>
              <a:srgbClr val="9B1B30"/>
            </a:solidFill>
            <a:prstDash val="solid"/>
          </a:ln>
        </p:spPr>
      </p:sp>
      <p:pic>
        <p:nvPicPr>
          <p:cNvPr id="15" name="Image 2" descr="preencoded.png"/>
          <p:cNvPicPr>
            <a:picLocks noChangeAspect="1"/>
          </p:cNvPicPr>
          <p:nvPr/>
        </p:nvPicPr>
        <p:blipFill>
          <a:blip r:embed="rId5"/>
          <a:stretch>
            <a:fillRect/>
          </a:stretch>
        </p:blipFill>
        <p:spPr>
          <a:xfrm>
            <a:off x="9281160" y="5047488"/>
            <a:ext cx="365760" cy="365760"/>
          </a:xfrm>
          <a:prstGeom prst="rect">
            <a:avLst/>
          </a:prstGeom>
        </p:spPr>
      </p:pic>
      <p:sp>
        <p:nvSpPr>
          <p:cNvPr id="16" name="Text 11"/>
          <p:cNvSpPr txBox="1"/>
          <p:nvPr/>
        </p:nvSpPr>
        <p:spPr>
          <a:xfrm>
            <a:off x="10012680" y="4572000"/>
            <a:ext cx="1508760" cy="132588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Lives saved</a:t>
            </a:r>
            <a:endParaRPr lang="en-US" sz="1700" dirty="0"/>
          </a:p>
        </p:txBody>
      </p:sp>
      <p:sp>
        <p:nvSpPr>
          <p:cNvPr id="17" name="Text 12"/>
          <p:cNvSpPr txBox="1"/>
          <p:nvPr/>
        </p:nvSpPr>
        <p:spPr>
          <a:xfrm>
            <a:off x="11247120" y="6355080"/>
            <a:ext cx="548640" cy="274320"/>
          </a:xfrm>
          <a:prstGeom prst="rect">
            <a:avLst/>
          </a:prstGeom>
          <a:noFill/>
          <a:ln/>
        </p:spPr>
        <p:txBody>
          <a:bodyPr wrap="square" lIns="0" tIns="0" rIns="0" bIns="0" rtlCol="0" anchor="ctr"/>
          <a:lstStyle/>
          <a:p>
            <a:pPr marL="0" indent="0" algn="r">
              <a:buNone/>
            </a:pPr>
            <a:r>
              <a:rPr lang="en-US" sz="1200" dirty="0">
                <a:solidFill>
                  <a:srgbClr val="C9A3AB"/>
                </a:solidFill>
                <a:latin typeface="Calibri" pitchFamily="34" charset="0"/>
                <a:ea typeface="Calibri" pitchFamily="34" charset="-122"/>
                <a:cs typeface="Calibri"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name="Slide 13">
    <p:bg>
      <p:bgPr>
        <a:solidFill>
          <a:srgbClr val="FBF3F4"/>
        </a:solidFill>
        <a:effectLst/>
      </p:bgPr>
    </p:bg>
    <p:spTree>
      <p:nvGrpSpPr>
        <p:cNvPr id="1" name=""/>
        <p:cNvGrpSpPr/>
        <p:nvPr/>
      </p:nvGrpSpPr>
      <p:grpSpPr>
        <a:xfrm>
          <a:off x="0" y="0"/>
          <a:ext cx="0" cy="0"/>
          <a:chOff x="0" y="0"/>
          <a:chExt cx="0" cy="0"/>
        </a:xfrm>
      </p:grpSpPr>
      <p:sp>
        <p:nvSpPr>
          <p:cNvPr id="2" name="Shape 0"/>
          <p:cNvSpPr/>
          <p:nvPr/>
        </p:nvSpPr>
        <p:spPr>
          <a:xfrm>
            <a:off x="548640" y="411480"/>
            <a:ext cx="731520" cy="731520"/>
          </a:xfrm>
          <a:prstGeom prst="ellipse">
            <a:avLst/>
          </a:prstGeom>
          <a:solidFill>
            <a:srgbClr val="9B1B30"/>
          </a:solidFill>
          <a:ln w="12700">
            <a:solidFill>
              <a:srgbClr val="9B1B30"/>
            </a:solidFill>
            <a:prstDash val="solid"/>
          </a:ln>
        </p:spPr>
      </p:sp>
      <p:pic>
        <p:nvPicPr>
          <p:cNvPr id="3" name="Image 0" descr="preencoded.png"/>
          <p:cNvPicPr>
            <a:picLocks noChangeAspect="1"/>
          </p:cNvPicPr>
          <p:nvPr/>
        </p:nvPicPr>
        <p:blipFill>
          <a:blip r:embed="rId3"/>
          <a:stretch>
            <a:fillRect/>
          </a:stretch>
        </p:blipFill>
        <p:spPr>
          <a:xfrm>
            <a:off x="731520" y="594360"/>
            <a:ext cx="365760" cy="365760"/>
          </a:xfrm>
          <a:prstGeom prst="rect">
            <a:avLst/>
          </a:prstGeom>
        </p:spPr>
      </p:pic>
      <p:sp>
        <p:nvSpPr>
          <p:cNvPr id="4" name="Text 1"/>
          <p:cNvSpPr txBox="1"/>
          <p:nvPr/>
        </p:nvSpPr>
        <p:spPr>
          <a:xfrm>
            <a:off x="1463040" y="411480"/>
            <a:ext cx="9601200" cy="731520"/>
          </a:xfrm>
          <a:prstGeom prst="rect">
            <a:avLst/>
          </a:prstGeom>
          <a:noFill/>
          <a:ln/>
        </p:spPr>
        <p:txBody>
          <a:bodyPr wrap="square" lIns="0" tIns="0" rIns="0" bIns="0" rtlCol="0" anchor="ctr"/>
          <a:lstStyle/>
          <a:p>
            <a:pPr marL="0" indent="0">
              <a:buNone/>
            </a:pPr>
            <a:r>
              <a:rPr lang="en-US" sz="3600" b="1" dirty="0">
                <a:solidFill>
                  <a:srgbClr val="3A0A14"/>
                </a:solidFill>
                <a:latin typeface="Cambria" pitchFamily="34" charset="0"/>
                <a:ea typeface="Cambria" pitchFamily="34" charset="-122"/>
                <a:cs typeface="Cambria" pitchFamily="34" charset="-120"/>
              </a:rPr>
              <a:t>OUTPUT</a:t>
            </a:r>
            <a:endParaRPr lang="en-US" sz="3600" dirty="0"/>
          </a:p>
        </p:txBody>
      </p:sp>
      <p:sp>
        <p:nvSpPr>
          <p:cNvPr id="5" name="Shape 2"/>
          <p:cNvSpPr/>
          <p:nvPr/>
        </p:nvSpPr>
        <p:spPr>
          <a:xfrm>
            <a:off x="548640" y="1463040"/>
            <a:ext cx="11064240" cy="2286000"/>
          </a:xfrm>
          <a:prstGeom prst="roundRect">
            <a:avLst>
              <a:gd name="adj" fmla="val 4800"/>
            </a:avLst>
          </a:prstGeom>
          <a:solidFill>
            <a:srgbClr val="1B1D1F"/>
          </a:solidFill>
          <a:ln w="12700">
            <a:solidFill>
              <a:srgbClr val="1B1D1F"/>
            </a:solidFill>
            <a:prstDash val="solid"/>
          </a:ln>
          <a:effectLst>
            <a:outerShdw blurRad="114300" dist="25400" dir="5400000" algn="bl" rotWithShape="0">
              <a:srgbClr val="000000">
                <a:alpha val="14000"/>
              </a:srgbClr>
            </a:outerShdw>
          </a:effectLst>
        </p:spPr>
      </p:sp>
      <p:pic>
        <p:nvPicPr>
          <p:cNvPr id="6" name="Image 1" descr="un/ppt/media/image2.png"/>
          <p:cNvPicPr>
            <a:picLocks noChangeAspect="1"/>
          </p:cNvPicPr>
          <p:nvPr/>
        </p:nvPicPr>
        <p:blipFill>
          <a:blip r:embed="rId4"/>
          <a:stretch>
            <a:fillRect/>
          </a:stretch>
        </p:blipFill>
        <p:spPr>
          <a:xfrm>
            <a:off x="685800" y="1600200"/>
            <a:ext cx="10789920" cy="1958243"/>
          </a:xfrm>
          <a:prstGeom prst="rect">
            <a:avLst/>
          </a:prstGeom>
        </p:spPr>
      </p:pic>
      <p:sp>
        <p:nvSpPr>
          <p:cNvPr id="7" name="Shape 3"/>
          <p:cNvSpPr/>
          <p:nvPr/>
        </p:nvSpPr>
        <p:spPr>
          <a:xfrm>
            <a:off x="548640" y="4069080"/>
            <a:ext cx="5440680" cy="1828800"/>
          </a:xfrm>
          <a:prstGeom prst="roundRect">
            <a:avLst>
              <a:gd name="adj" fmla="val 6000"/>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8" name="Shape 4"/>
          <p:cNvSpPr/>
          <p:nvPr/>
        </p:nvSpPr>
        <p:spPr>
          <a:xfrm>
            <a:off x="868680" y="4526280"/>
            <a:ext cx="914400" cy="914400"/>
          </a:xfrm>
          <a:prstGeom prst="ellipse">
            <a:avLst/>
          </a:prstGeom>
          <a:solidFill>
            <a:srgbClr val="9B1B30"/>
          </a:solidFill>
          <a:ln w="12700">
            <a:solidFill>
              <a:srgbClr val="9B1B30"/>
            </a:solidFill>
            <a:prstDash val="solid"/>
          </a:ln>
        </p:spPr>
      </p:sp>
      <p:pic>
        <p:nvPicPr>
          <p:cNvPr id="9" name="Image 2" descr="preencoded.png"/>
          <p:cNvPicPr>
            <a:picLocks noChangeAspect="1"/>
          </p:cNvPicPr>
          <p:nvPr/>
        </p:nvPicPr>
        <p:blipFill>
          <a:blip r:embed="rId3"/>
          <a:stretch>
            <a:fillRect/>
          </a:stretch>
        </p:blipFill>
        <p:spPr>
          <a:xfrm>
            <a:off x="1097280" y="4754880"/>
            <a:ext cx="457200" cy="457200"/>
          </a:xfrm>
          <a:prstGeom prst="rect">
            <a:avLst/>
          </a:prstGeom>
        </p:spPr>
      </p:pic>
      <p:sp>
        <p:nvSpPr>
          <p:cNvPr id="10" name="Text 5"/>
          <p:cNvSpPr txBox="1"/>
          <p:nvPr/>
        </p:nvSpPr>
        <p:spPr>
          <a:xfrm>
            <a:off x="2057400" y="4297680"/>
            <a:ext cx="3657600" cy="457200"/>
          </a:xfrm>
          <a:prstGeom prst="rect">
            <a:avLst/>
          </a:prstGeom>
          <a:noFill/>
          <a:ln/>
        </p:spPr>
        <p:txBody>
          <a:bodyPr wrap="square" lIns="0" tIns="0" rIns="0" bIns="0" rtlCol="0" anchor="ctr"/>
          <a:lstStyle/>
          <a:p>
            <a:pPr marL="0" indent="0">
              <a:buNone/>
            </a:pPr>
            <a:r>
              <a:rPr lang="en-US" sz="2200" b="1" dirty="0">
                <a:solidFill>
                  <a:srgbClr val="3A0A14"/>
                </a:solidFill>
                <a:latin typeface="Cambria" pitchFamily="34" charset="0"/>
                <a:ea typeface="Cambria" pitchFamily="34" charset="-122"/>
                <a:cs typeface="Cambria" pitchFamily="34" charset="-120"/>
              </a:rPr>
              <a:t>Input</a:t>
            </a:r>
            <a:endParaRPr lang="en-US" sz="2200" dirty="0"/>
          </a:p>
        </p:txBody>
      </p:sp>
      <p:sp>
        <p:nvSpPr>
          <p:cNvPr id="11" name="Text 6"/>
          <p:cNvSpPr txBox="1"/>
          <p:nvPr/>
        </p:nvSpPr>
        <p:spPr>
          <a:xfrm>
            <a:off x="2057400" y="4800600"/>
            <a:ext cx="3657600" cy="868680"/>
          </a:xfrm>
          <a:prstGeom prst="rect">
            <a:avLst/>
          </a:prstGeom>
          <a:noFill/>
          <a:ln/>
        </p:spPr>
        <p:txBody>
          <a:bodyPr wrap="square" lIns="0" tIns="0" rIns="0" bIns="0" rtlCol="0" anchor="t"/>
          <a:lstStyle/>
          <a:p>
            <a:pPr marL="0" indent="0">
              <a:buNone/>
            </a:pPr>
            <a:r>
              <a:rPr lang="en-US" sz="1500" dirty="0">
                <a:solidFill>
                  <a:srgbClr val="2B2B33"/>
                </a:solidFill>
                <a:latin typeface="Calibri" pitchFamily="34" charset="0"/>
                <a:ea typeface="Calibri" pitchFamily="34" charset="-122"/>
                <a:cs typeface="Calibri" pitchFamily="34" charset="-120"/>
              </a:rPr>
              <a:t>Number of donors, then name, blood group and age for each donor</a:t>
            </a:r>
            <a:endParaRPr lang="en-US" sz="1500" dirty="0"/>
          </a:p>
        </p:txBody>
      </p:sp>
      <p:sp>
        <p:nvSpPr>
          <p:cNvPr id="12" name="Shape 7"/>
          <p:cNvSpPr/>
          <p:nvPr/>
        </p:nvSpPr>
        <p:spPr>
          <a:xfrm>
            <a:off x="6172200" y="4069080"/>
            <a:ext cx="5440680" cy="1828800"/>
          </a:xfrm>
          <a:prstGeom prst="roundRect">
            <a:avLst>
              <a:gd name="adj" fmla="val 6000"/>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13" name="Shape 8"/>
          <p:cNvSpPr/>
          <p:nvPr/>
        </p:nvSpPr>
        <p:spPr>
          <a:xfrm>
            <a:off x="6492240" y="4526280"/>
            <a:ext cx="914400" cy="914400"/>
          </a:xfrm>
          <a:prstGeom prst="ellipse">
            <a:avLst/>
          </a:prstGeom>
          <a:solidFill>
            <a:srgbClr val="9B1B30"/>
          </a:solidFill>
          <a:ln w="12700">
            <a:solidFill>
              <a:srgbClr val="9B1B30"/>
            </a:solidFill>
            <a:prstDash val="solid"/>
          </a:ln>
        </p:spPr>
      </p:sp>
      <p:pic>
        <p:nvPicPr>
          <p:cNvPr id="14" name="Image 3" descr="preencoded.png"/>
          <p:cNvPicPr>
            <a:picLocks noChangeAspect="1"/>
          </p:cNvPicPr>
          <p:nvPr/>
        </p:nvPicPr>
        <p:blipFill>
          <a:blip r:embed="rId5"/>
          <a:stretch>
            <a:fillRect/>
          </a:stretch>
        </p:blipFill>
        <p:spPr>
          <a:xfrm>
            <a:off x="6720840" y="4754880"/>
            <a:ext cx="457200" cy="457200"/>
          </a:xfrm>
          <a:prstGeom prst="rect">
            <a:avLst/>
          </a:prstGeom>
        </p:spPr>
      </p:pic>
      <p:sp>
        <p:nvSpPr>
          <p:cNvPr id="15" name="Text 9"/>
          <p:cNvSpPr txBox="1"/>
          <p:nvPr/>
        </p:nvSpPr>
        <p:spPr>
          <a:xfrm>
            <a:off x="7680960" y="4297680"/>
            <a:ext cx="3657600" cy="457200"/>
          </a:xfrm>
          <a:prstGeom prst="rect">
            <a:avLst/>
          </a:prstGeom>
          <a:noFill/>
          <a:ln/>
        </p:spPr>
        <p:txBody>
          <a:bodyPr wrap="square" lIns="0" tIns="0" rIns="0" bIns="0" rtlCol="0" anchor="ctr"/>
          <a:lstStyle/>
          <a:p>
            <a:pPr marL="0" indent="0">
              <a:buNone/>
            </a:pPr>
            <a:r>
              <a:rPr lang="en-US" sz="2200" b="1" dirty="0">
                <a:solidFill>
                  <a:srgbClr val="3A0A14"/>
                </a:solidFill>
                <a:latin typeface="Cambria" pitchFamily="34" charset="0"/>
                <a:ea typeface="Cambria" pitchFamily="34" charset="-122"/>
                <a:cs typeface="Cambria" pitchFamily="34" charset="-120"/>
              </a:rPr>
              <a:t>Output</a:t>
            </a:r>
            <a:endParaRPr lang="en-US" sz="2200" dirty="0"/>
          </a:p>
        </p:txBody>
      </p:sp>
      <p:sp>
        <p:nvSpPr>
          <p:cNvPr id="16" name="Text 10"/>
          <p:cNvSpPr txBox="1"/>
          <p:nvPr/>
        </p:nvSpPr>
        <p:spPr>
          <a:xfrm>
            <a:off x="7680960" y="4800600"/>
            <a:ext cx="3657600" cy="868680"/>
          </a:xfrm>
          <a:prstGeom prst="rect">
            <a:avLst/>
          </a:prstGeom>
          <a:noFill/>
          <a:ln/>
        </p:spPr>
        <p:txBody>
          <a:bodyPr wrap="square" lIns="0" tIns="0" rIns="0" bIns="0" rtlCol="0" anchor="t"/>
          <a:lstStyle/>
          <a:p>
            <a:pPr marL="0" indent="0">
              <a:buNone/>
            </a:pPr>
            <a:r>
              <a:rPr lang="en-US" sz="1500" dirty="0">
                <a:solidFill>
                  <a:srgbClr val="2B2B33"/>
                </a:solidFill>
                <a:latin typeface="Calibri" pitchFamily="34" charset="0"/>
                <a:ea typeface="Calibri" pitchFamily="34" charset="-122"/>
                <a:cs typeface="Calibri" pitchFamily="34" charset="-120"/>
              </a:rPr>
              <a:t>Registered donors list, printed through toString()</a:t>
            </a:r>
            <a:endParaRPr lang="en-US" sz="1500" dirty="0"/>
          </a:p>
        </p:txBody>
      </p:sp>
      <p:sp>
        <p:nvSpPr>
          <p:cNvPr id="17" name="Text 11"/>
          <p:cNvSpPr txBox="1"/>
          <p:nvPr/>
        </p:nvSpPr>
        <p:spPr>
          <a:xfrm>
            <a:off x="11247120" y="6355080"/>
            <a:ext cx="548640" cy="274320"/>
          </a:xfrm>
          <a:prstGeom prst="rect">
            <a:avLst/>
          </a:prstGeom>
          <a:noFill/>
          <a:ln/>
        </p:spPr>
        <p:txBody>
          <a:bodyPr wrap="square" lIns="0" tIns="0" rIns="0" bIns="0" rtlCol="0" anchor="ctr"/>
          <a:lstStyle/>
          <a:p>
            <a:pPr marL="0" indent="0" algn="r">
              <a:buNone/>
            </a:pPr>
            <a:r>
              <a:rPr lang="en-US" sz="1200" dirty="0">
                <a:solidFill>
                  <a:srgbClr val="6B5B5F"/>
                </a:solidFill>
                <a:latin typeface="Calibri" pitchFamily="34" charset="0"/>
                <a:ea typeface="Calibri" pitchFamily="34" charset="-122"/>
                <a:cs typeface="Calibri"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name="Slide 14">
    <p:bg>
      <p:bgPr>
        <a:solidFill>
          <a:srgbClr val="FBF3F4"/>
        </a:solidFill>
        <a:effectLst/>
      </p:bgPr>
    </p:bg>
    <p:spTree>
      <p:nvGrpSpPr>
        <p:cNvPr id="1" name=""/>
        <p:cNvGrpSpPr/>
        <p:nvPr/>
      </p:nvGrpSpPr>
      <p:grpSpPr>
        <a:xfrm>
          <a:off x="0" y="0"/>
          <a:ext cx="0" cy="0"/>
          <a:chOff x="0" y="0"/>
          <a:chExt cx="0" cy="0"/>
        </a:xfrm>
      </p:grpSpPr>
      <p:sp>
        <p:nvSpPr>
          <p:cNvPr id="2" name="Shape 0"/>
          <p:cNvSpPr/>
          <p:nvPr/>
        </p:nvSpPr>
        <p:spPr>
          <a:xfrm>
            <a:off x="548640" y="411480"/>
            <a:ext cx="731520" cy="731520"/>
          </a:xfrm>
          <a:prstGeom prst="ellipse">
            <a:avLst/>
          </a:prstGeom>
          <a:solidFill>
            <a:srgbClr val="9B1B30"/>
          </a:solidFill>
          <a:ln w="12700">
            <a:solidFill>
              <a:srgbClr val="9B1B30"/>
            </a:solidFill>
            <a:prstDash val="solid"/>
          </a:ln>
        </p:spPr>
      </p:sp>
      <p:pic>
        <p:nvPicPr>
          <p:cNvPr id="3" name="Image 0" descr="preencoded.png"/>
          <p:cNvPicPr>
            <a:picLocks noChangeAspect="1"/>
          </p:cNvPicPr>
          <p:nvPr/>
        </p:nvPicPr>
        <p:blipFill>
          <a:blip r:embed="rId3"/>
          <a:stretch>
            <a:fillRect/>
          </a:stretch>
        </p:blipFill>
        <p:spPr>
          <a:xfrm>
            <a:off x="731520" y="594360"/>
            <a:ext cx="365760" cy="365760"/>
          </a:xfrm>
          <a:prstGeom prst="rect">
            <a:avLst/>
          </a:prstGeom>
        </p:spPr>
      </p:pic>
      <p:sp>
        <p:nvSpPr>
          <p:cNvPr id="4" name="Text 1"/>
          <p:cNvSpPr txBox="1"/>
          <p:nvPr/>
        </p:nvSpPr>
        <p:spPr>
          <a:xfrm>
            <a:off x="1463040" y="411480"/>
            <a:ext cx="9601200" cy="731520"/>
          </a:xfrm>
          <a:prstGeom prst="rect">
            <a:avLst/>
          </a:prstGeom>
          <a:noFill/>
          <a:ln/>
        </p:spPr>
        <p:txBody>
          <a:bodyPr wrap="square" lIns="0" tIns="0" rIns="0" bIns="0" rtlCol="0" anchor="ctr"/>
          <a:lstStyle/>
          <a:p>
            <a:pPr marL="0" indent="0">
              <a:buNone/>
            </a:pPr>
            <a:r>
              <a:rPr lang="en-US" sz="3600" b="1" dirty="0">
                <a:solidFill>
                  <a:srgbClr val="3A0A14"/>
                </a:solidFill>
                <a:latin typeface="Cambria" pitchFamily="34" charset="0"/>
                <a:ea typeface="Cambria" pitchFamily="34" charset="-122"/>
                <a:cs typeface="Cambria" pitchFamily="34" charset="-120"/>
              </a:rPr>
              <a:t>GEOTAG PHOTO &amp; GITHUB</a:t>
            </a:r>
            <a:endParaRPr lang="en-US" sz="3600" dirty="0"/>
          </a:p>
        </p:txBody>
      </p:sp>
      <p:sp>
        <p:nvSpPr>
          <p:cNvPr id="5" name="Shape 2"/>
          <p:cNvSpPr/>
          <p:nvPr/>
        </p:nvSpPr>
        <p:spPr>
          <a:xfrm>
            <a:off x="548640" y="1554480"/>
            <a:ext cx="5440680" cy="4480560"/>
          </a:xfrm>
          <a:prstGeom prst="roundRect">
            <a:avLst>
              <a:gd name="adj" fmla="val 2449"/>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6" name="Shape 3"/>
          <p:cNvSpPr/>
          <p:nvPr/>
        </p:nvSpPr>
        <p:spPr>
          <a:xfrm>
            <a:off x="822960" y="1828800"/>
            <a:ext cx="4892040" cy="3017520"/>
          </a:xfrm>
          <a:prstGeom prst="roundRect">
            <a:avLst>
              <a:gd name="adj" fmla="val 3636"/>
            </a:avLst>
          </a:prstGeom>
          <a:solidFill>
            <a:srgbClr val="F8E1E5"/>
          </a:solidFill>
          <a:ln w="19050">
            <a:solidFill>
              <a:srgbClr val="9B1B30"/>
            </a:solidFill>
            <a:prstDash val="dash"/>
          </a:ln>
        </p:spPr>
      </p:sp>
      <p:pic>
        <p:nvPicPr>
          <p:cNvPr id="7" name="Image 1" descr="preencoded.png"/>
          <p:cNvPicPr>
            <a:picLocks noChangeAspect="1"/>
          </p:cNvPicPr>
          <p:nvPr/>
        </p:nvPicPr>
        <p:blipFill>
          <a:blip r:embed="rId4"/>
          <a:stretch>
            <a:fillRect/>
          </a:stretch>
        </p:blipFill>
        <p:spPr>
          <a:xfrm>
            <a:off x="2560320" y="2560320"/>
            <a:ext cx="1417320" cy="1417320"/>
          </a:xfrm>
          <a:prstGeom prst="rect">
            <a:avLst/>
          </a:prstGeom>
        </p:spPr>
      </p:pic>
      <p:sp>
        <p:nvSpPr>
          <p:cNvPr id="8" name="Text 4"/>
          <p:cNvSpPr txBox="1"/>
          <p:nvPr/>
        </p:nvSpPr>
        <p:spPr>
          <a:xfrm>
            <a:off x="548640" y="4983480"/>
            <a:ext cx="5440680" cy="822960"/>
          </a:xfrm>
          <a:prstGeom prst="rect">
            <a:avLst/>
          </a:prstGeom>
          <a:noFill/>
          <a:ln/>
        </p:spPr>
        <p:txBody>
          <a:bodyPr wrap="square" lIns="0" tIns="0" rIns="0" bIns="0" rtlCol="0" anchor="ctr"/>
          <a:lstStyle/>
          <a:p>
            <a:pPr marL="0" indent="0" algn="ctr">
              <a:buNone/>
            </a:pPr>
            <a:r>
              <a:rPr lang="en-US" sz="2400" b="1" dirty="0">
                <a:solidFill>
                  <a:srgbClr val="3A0A14"/>
                </a:solidFill>
                <a:latin typeface="Cambria" pitchFamily="34" charset="0"/>
                <a:ea typeface="Cambria" pitchFamily="34" charset="-122"/>
                <a:cs typeface="Cambria" pitchFamily="34" charset="-120"/>
              </a:rPr>
              <a:t>GEOTAG PHOTO</a:t>
            </a:r>
            <a:endParaRPr lang="en-US" sz="2400" dirty="0"/>
          </a:p>
        </p:txBody>
      </p:sp>
      <p:sp>
        <p:nvSpPr>
          <p:cNvPr id="9" name="Shape 5"/>
          <p:cNvSpPr/>
          <p:nvPr/>
        </p:nvSpPr>
        <p:spPr>
          <a:xfrm>
            <a:off x="6172200" y="1554480"/>
            <a:ext cx="5440680" cy="4480560"/>
          </a:xfrm>
          <a:prstGeom prst="roundRect">
            <a:avLst>
              <a:gd name="adj" fmla="val 2449"/>
            </a:avLst>
          </a:prstGeom>
          <a:solidFill>
            <a:srgbClr val="FFFFFF"/>
          </a:solidFill>
          <a:ln w="12700">
            <a:solidFill>
              <a:srgbClr val="FFFFFF"/>
            </a:solidFill>
            <a:prstDash val="solid"/>
          </a:ln>
          <a:effectLst>
            <a:outerShdw blurRad="114300" dist="25400" dir="5400000" algn="bl" rotWithShape="0">
              <a:srgbClr val="000000">
                <a:alpha val="14000"/>
              </a:srgbClr>
            </a:outerShdw>
          </a:effectLst>
        </p:spPr>
      </p:sp>
      <p:sp>
        <p:nvSpPr>
          <p:cNvPr id="10" name="Shape 6"/>
          <p:cNvSpPr/>
          <p:nvPr/>
        </p:nvSpPr>
        <p:spPr>
          <a:xfrm>
            <a:off x="6446520" y="1828800"/>
            <a:ext cx="4892040" cy="3017520"/>
          </a:xfrm>
          <a:prstGeom prst="roundRect">
            <a:avLst>
              <a:gd name="adj" fmla="val 3636"/>
            </a:avLst>
          </a:prstGeom>
          <a:solidFill>
            <a:srgbClr val="F8E1E5"/>
          </a:solidFill>
          <a:ln w="19050">
            <a:solidFill>
              <a:srgbClr val="9B1B30"/>
            </a:solidFill>
            <a:prstDash val="dash"/>
          </a:ln>
        </p:spPr>
      </p:sp>
      <p:pic>
        <p:nvPicPr>
          <p:cNvPr id="11" name="Image 2" descr="preencoded.png"/>
          <p:cNvPicPr>
            <a:picLocks noChangeAspect="1"/>
          </p:cNvPicPr>
          <p:nvPr/>
        </p:nvPicPr>
        <p:blipFill>
          <a:blip r:embed="rId5"/>
          <a:stretch>
            <a:fillRect/>
          </a:stretch>
        </p:blipFill>
        <p:spPr>
          <a:xfrm>
            <a:off x="8183880" y="2560320"/>
            <a:ext cx="1417320" cy="1417320"/>
          </a:xfrm>
          <a:prstGeom prst="rect">
            <a:avLst/>
          </a:prstGeom>
        </p:spPr>
      </p:pic>
      <p:sp>
        <p:nvSpPr>
          <p:cNvPr id="12" name="Text 7"/>
          <p:cNvSpPr txBox="1"/>
          <p:nvPr/>
        </p:nvSpPr>
        <p:spPr>
          <a:xfrm>
            <a:off x="6172200" y="4983480"/>
            <a:ext cx="5440680" cy="822960"/>
          </a:xfrm>
          <a:prstGeom prst="rect">
            <a:avLst/>
          </a:prstGeom>
          <a:noFill/>
          <a:ln/>
        </p:spPr>
        <p:txBody>
          <a:bodyPr wrap="square" lIns="0" tIns="0" rIns="0" bIns="0" rtlCol="0" anchor="ctr"/>
          <a:lstStyle/>
          <a:p>
            <a:pPr marL="0" indent="0" algn="ctr">
              <a:buNone/>
            </a:pPr>
            <a:r>
              <a:rPr lang="en-US" sz="2400" b="1" dirty="0">
                <a:solidFill>
                  <a:srgbClr val="3A0A14"/>
                </a:solidFill>
                <a:latin typeface="Cambria" pitchFamily="34" charset="0"/>
                <a:ea typeface="Cambria" pitchFamily="34" charset="-122"/>
                <a:cs typeface="Cambria" pitchFamily="34" charset="-120"/>
              </a:rPr>
              <a:t>GITHUB LINK</a:t>
            </a:r>
            <a:endParaRPr lang="en-US" sz="2400" dirty="0"/>
          </a:p>
        </p:txBody>
      </p:sp>
      <p:sp>
        <p:nvSpPr>
          <p:cNvPr id="13" name="Text 8"/>
          <p:cNvSpPr txBox="1"/>
          <p:nvPr/>
        </p:nvSpPr>
        <p:spPr>
          <a:xfrm>
            <a:off x="11247120" y="6355080"/>
            <a:ext cx="548640" cy="274320"/>
          </a:xfrm>
          <a:prstGeom prst="rect">
            <a:avLst/>
          </a:prstGeom>
          <a:noFill/>
          <a:ln/>
        </p:spPr>
        <p:txBody>
          <a:bodyPr wrap="square" lIns="0" tIns="0" rIns="0" bIns="0" rtlCol="0" anchor="ctr"/>
          <a:lstStyle/>
          <a:p>
            <a:pPr marL="0" indent="0" algn="r">
              <a:buNone/>
            </a:pPr>
            <a:r>
              <a:rPr lang="en-US" sz="1200" dirty="0">
                <a:solidFill>
                  <a:srgbClr val="6B5B5F"/>
                </a:solidFill>
                <a:latin typeface="Calibri" pitchFamily="34" charset="0"/>
                <a:ea typeface="Calibri" pitchFamily="34" charset="-122"/>
                <a:cs typeface="Calibri"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name="Slide 15">
    <p:bg>
      <p:bgPr>
        <a:solidFill>
          <a:srgbClr val="260710"/>
        </a:solidFill>
        <a:effectLst/>
      </p:bgPr>
    </p:bg>
    <p:spTree>
      <p:nvGrpSpPr>
        <p:cNvPr id="1" name=""/>
        <p:cNvGrpSpPr/>
        <p:nvPr/>
      </p:nvGrpSpPr>
      <p:grpSpPr>
        <a:xfrm>
          <a:off x="0" y="0"/>
          <a:ext cx="0" cy="0"/>
          <a:chOff x="0" y="0"/>
          <a:chExt cx="0" cy="0"/>
        </a:xfrm>
      </p:grpSpPr>
      <p:sp>
        <p:nvSpPr>
          <p:cNvPr id="2" name="Shape 0"/>
          <p:cNvSpPr/>
          <p:nvPr/>
        </p:nvSpPr>
        <p:spPr>
          <a:xfrm>
            <a:off x="7498080" y="1097280"/>
            <a:ext cx="4389120" cy="4389120"/>
          </a:xfrm>
          <a:prstGeom prst="ellipse">
            <a:avLst/>
          </a:prstGeom>
          <a:solidFill>
            <a:srgbClr val="9B1B30"/>
          </a:solidFill>
          <a:ln w="12700">
            <a:solidFill>
              <a:srgbClr val="9B1B30"/>
            </a:solidFill>
            <a:prstDash val="solid"/>
          </a:ln>
        </p:spPr>
      </p:sp>
      <p:sp>
        <p:nvSpPr>
          <p:cNvPr id="3" name="Shape 1"/>
          <p:cNvSpPr/>
          <p:nvPr/>
        </p:nvSpPr>
        <p:spPr>
          <a:xfrm>
            <a:off x="7178040" y="777240"/>
            <a:ext cx="5029200" cy="5029200"/>
          </a:xfrm>
          <a:prstGeom prst="ellipse">
            <a:avLst/>
          </a:prstGeom>
          <a:solidFill>
            <a:srgbClr val="9B1B30">
              <a:alpha val="0"/>
            </a:srgbClr>
          </a:solidFill>
          <a:ln w="25400">
            <a:solidFill>
              <a:srgbClr val="D6455D"/>
            </a:solidFill>
            <a:prstDash val="solid"/>
          </a:ln>
        </p:spPr>
      </p:sp>
      <p:pic>
        <p:nvPicPr>
          <p:cNvPr id="4" name="Image 0" descr="preencoded.png"/>
          <p:cNvPicPr>
            <a:picLocks noChangeAspect="1"/>
          </p:cNvPicPr>
          <p:nvPr/>
        </p:nvPicPr>
        <p:blipFill>
          <a:blip r:embed="rId3"/>
          <a:stretch>
            <a:fillRect/>
          </a:stretch>
        </p:blipFill>
        <p:spPr>
          <a:xfrm>
            <a:off x="8595360" y="2194560"/>
            <a:ext cx="2194560" cy="2194560"/>
          </a:xfrm>
          <a:prstGeom prst="rect">
            <a:avLst/>
          </a:prstGeom>
        </p:spPr>
      </p:pic>
      <p:sp>
        <p:nvSpPr>
          <p:cNvPr id="5" name="Text 2"/>
          <p:cNvSpPr txBox="1"/>
          <p:nvPr/>
        </p:nvSpPr>
        <p:spPr>
          <a:xfrm>
            <a:off x="731520" y="2377440"/>
            <a:ext cx="6400800" cy="1371600"/>
          </a:xfrm>
          <a:prstGeom prst="rect">
            <a:avLst/>
          </a:prstGeom>
          <a:noFill/>
          <a:ln/>
        </p:spPr>
        <p:txBody>
          <a:bodyPr wrap="square" lIns="0" tIns="0" rIns="0" bIns="0"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Thank You</a:t>
            </a:r>
            <a:endParaRPr lang="en-US" sz="6000" dirty="0"/>
          </a:p>
        </p:txBody>
      </p:sp>
      <p:sp>
        <p:nvSpPr>
          <p:cNvPr id="6" name="Text 3"/>
          <p:cNvSpPr txBox="1"/>
          <p:nvPr/>
        </p:nvSpPr>
        <p:spPr>
          <a:xfrm>
            <a:off x="731520" y="3749040"/>
            <a:ext cx="6400800" cy="457200"/>
          </a:xfrm>
          <a:prstGeom prst="rect">
            <a:avLst/>
          </a:prstGeom>
          <a:noFill/>
          <a:ln/>
        </p:spPr>
        <p:txBody>
          <a:bodyPr wrap="square" lIns="0" tIns="0" rIns="0" bIns="0" rtlCol="0" anchor="ctr"/>
          <a:lstStyle/>
          <a:p>
            <a:pPr marL="0" indent="0">
              <a:buNone/>
            </a:pPr>
            <a:r>
              <a:rPr lang="en-US" sz="1600" b="1" kern="0" spc="400" dirty="0">
                <a:solidFill>
                  <a:srgbClr val="F2A7B4"/>
                </a:solidFill>
                <a:latin typeface="Calibri" pitchFamily="34" charset="0"/>
                <a:ea typeface="Calibri" pitchFamily="34" charset="-122"/>
                <a:cs typeface="Calibri" pitchFamily="34" charset="-120"/>
              </a:rPr>
              <a:t>BLOOD BANK INVENTORY SYSTEM</a:t>
            </a:r>
            <a:endParaRPr lang="en-US" sz="1600" dirty="0"/>
          </a:p>
        </p:txBody>
      </p:sp>
    </p:spTree>
  </p:cSld>
  <p:clrMapOvr>
    <a:masterClrMapping/>
  </p:clrMapOvr>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0.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15</Slides>
  <Notes>15</Notes>
  <HiddenSlides>0</HiddenSlides>
  <MMClips>0</MMClips>
  <ScaleCrop>0</ScaleCrop>
  <HeadingPairs>
    <vt:vector size="4" baseType="variant">
      <vt:variant>
        <vt:lpstr>Theme</vt:lpstr>
      </vt:variant>
      <vt:variant>
        <vt:i4>1</vt:i4>
      </vt:variant>
      <vt:variant>
        <vt:lpstr>Slide Titles</vt:lpstr>
      </vt:variant>
      <vt:variant>
        <vt:i4>15</vt:i4>
      </vt:variant>
    </vt:vector>
  </HeadingPairs>
  <TitlesOfParts>
    <vt:vector size="16"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Blood Bank Inventory System</dc:title>
  <dc:subject>PptxGenJS Presentation</dc:subject>
  <dc:creator>PptxGenJS</dc:creator>
  <cp:lastModifiedBy>Shanmukha Seerla</cp:lastModifiedBy>
  <cp:revision>2</cp:revision>
  <dcterms:created xsi:type="dcterms:W3CDTF">2026-10-16T03:40:43Z</dcterms:created>
  <dcterms:modified xsi:type="dcterms:W3CDTF">2026-10-16T03:42:46Z</dcterms:modified>
</cp:coreProperties>
</file>